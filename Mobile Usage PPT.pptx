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17.xml" ContentType="application/vnd.openxmlformats-officedocument.presentationml.slideLayout+xml"/>
  <Override PartName="/ppt/media/audio1" ContentType="audio/x-wav"/>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Default Extension="jpeg" ContentType="image/jpeg"/>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charts/colors1.xml" ContentType="application/vnd.ms-office.chartcolorstyle+xml"/>
  <Override PartName="/ppt/slideLayouts/slideLayout10.xml" ContentType="application/vnd.openxmlformats-officedocument.presentationml.slideLayout+xml"/>
  <Default Extension="xlsx" ContentType="application/vnd.openxmlformats-officedocument.spreadsheetml.sheet"/>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charts/chart1.xml" ContentType="application/vnd.openxmlformats-officedocument.drawingml.chart+xml"/>
  <Override PartName="/docProps/core.xml" ContentType="application/vnd.openxmlformats-package.core-properties+xml"/>
  <Override PartName="/ppt/slides/slide5.xml" ContentType="application/vnd.openxmlformats-officedocument.presentationml.slide+xml"/>
  <Override PartName="/ppt/slideLayouts/slideLayout7.xml" ContentType="application/vnd.openxmlformats-officedocument.presentationml.slideLayout+xml"/>
  <Default Extension="png" ContentType="image/png"/>
  <Override PartName="/ppt/charts/style1.xml" ContentType="application/vnd.ms-office.chartstyle+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75" r:id="rId3"/>
    <p:sldId id="257" r:id="rId4"/>
    <p:sldId id="258" r:id="rId5"/>
    <p:sldId id="259" r:id="rId6"/>
    <p:sldId id="260" r:id="rId7"/>
    <p:sldId id="261" r:id="rId8"/>
    <p:sldId id="262" r:id="rId9"/>
    <p:sldId id="263" r:id="rId10"/>
    <p:sldId id="268" r:id="rId11"/>
    <p:sldId id="264" r:id="rId12"/>
    <p:sldId id="265" r:id="rId13"/>
    <p:sldId id="266" r:id="rId14"/>
    <p:sldId id="270" r:id="rId15"/>
    <p:sldId id="271" r:id="rId16"/>
    <p:sldId id="272" r:id="rId17"/>
    <p:sldId id="274" r:id="rId1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 xmlns:p14="http://schemas.microsoft.com/office/powerpoint/2010/main" val="0"/>
    </p:ext>
    <p:ext uri="{D31A062A-798A-4329-ABDD-BBA856620510}">
      <p14:defaultImageDpi xmlns="" xmlns:p14="http://schemas.microsoft.com/office/powerpoint/2010/main" val="220"/>
    </p:ext>
    <p:ext uri="{FD5EFAAD-0ECE-453E-9831-46B23BE46B34}">
      <p15:chartTrackingRefBased xmlns=""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Medium Style 2 - Accent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 styleId="{D03447BB-5D67-496B-8E87-E561075AD55C}" styleName="Dark Style 1 - Accent 3">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accent3"/>
          </a:solidFill>
        </a:fill>
      </a:tcStyle>
    </a:wholeTbl>
    <a:band1H>
      <a:tcStyle>
        <a:tcBdr/>
        <a:fill>
          <a:solidFill>
            <a:schemeClr val="accent3">
              <a:shade val="60000"/>
            </a:schemeClr>
          </a:solidFill>
        </a:fill>
      </a:tcStyle>
    </a:band1H>
    <a:band1V>
      <a:tcStyle>
        <a:tcBdr/>
        <a:fill>
          <a:solidFill>
            <a:schemeClr val="accent3">
              <a:shade val="60000"/>
            </a:schemeClr>
          </a:solidFill>
        </a:fill>
      </a:tcStyle>
    </a:band1V>
    <a:lastCol>
      <a:tcTxStyle b="on"/>
      <a:tcStyle>
        <a:tcBdr>
          <a:left>
            <a:ln w="25400" cmpd="sng">
              <a:solidFill>
                <a:schemeClr val="lt1"/>
              </a:solidFill>
            </a:ln>
          </a:left>
        </a:tcBdr>
        <a:fill>
          <a:solidFill>
            <a:schemeClr val="accent3">
              <a:shade val="60000"/>
            </a:schemeClr>
          </a:solidFill>
        </a:fill>
      </a:tcStyle>
    </a:lastCol>
    <a:firstCol>
      <a:tcTxStyle b="on"/>
      <a:tcStyle>
        <a:tcBdr>
          <a:right>
            <a:ln w="25400" cmpd="sng">
              <a:solidFill>
                <a:schemeClr val="lt1"/>
              </a:solidFill>
            </a:ln>
          </a:right>
        </a:tcBdr>
        <a:fill>
          <a:solidFill>
            <a:schemeClr val="accent3">
              <a:shade val="60000"/>
            </a:schemeClr>
          </a:solidFill>
        </a:fill>
      </a:tcStyle>
    </a:firstCol>
    <a:lastRow>
      <a:tcTxStyle b="on"/>
      <a:tcStyle>
        <a:tcBdr>
          <a:top>
            <a:ln w="25400" cmpd="sng">
              <a:solidFill>
                <a:schemeClr val="lt1"/>
              </a:solidFill>
            </a:ln>
          </a:top>
        </a:tcBdr>
        <a:fill>
          <a:solidFill>
            <a:schemeClr val="accent3">
              <a:shade val="4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CF1AB2-1976-4502-BF36-3FF5EA218861}" styleName="Medium Style 4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solidFill>
            <a:schemeClr val="accent1">
              <a:tint val="20000"/>
            </a:schemeClr>
          </a:solidFill>
        </a:fill>
      </a:tcStyle>
    </a:wholeTbl>
    <a:band1H>
      <a:tcStyle>
        <a:tcBdr/>
        <a:fill>
          <a:solidFill>
            <a:schemeClr val="accent1">
              <a:tint val="40000"/>
            </a:schemeClr>
          </a:solidFill>
        </a:fill>
      </a:tcStyle>
    </a:band1H>
    <a:band1V>
      <a:tcStyle>
        <a:tcBdr/>
        <a:fill>
          <a:solidFill>
            <a:schemeClr val="accent1">
              <a:tint val="40000"/>
            </a:schemeClr>
          </a:solidFill>
        </a:fill>
      </a:tcStyle>
    </a:band1V>
    <a:lastCol>
      <a:tcTxStyle b="on"/>
      <a:tcStyle>
        <a:tcBdr/>
      </a:tcStyle>
    </a:lastCol>
    <a:firstCol>
      <a:tcTxStyle b="on"/>
      <a:tcStyle>
        <a:tcBdr/>
      </a:tcStyle>
    </a:firstCol>
    <a:lastRow>
      <a:tcTxStyle b="on"/>
      <a:tcStyle>
        <a:tcBdr>
          <a:top>
            <a:ln w="25400" cmpd="sng">
              <a:solidFill>
                <a:schemeClr val="accent1"/>
              </a:solidFill>
            </a:ln>
          </a:top>
        </a:tcBdr>
        <a:fill>
          <a:solidFill>
            <a:schemeClr val="accent1">
              <a:tint val="20000"/>
            </a:schemeClr>
          </a:solidFill>
        </a:fill>
      </a:tcStyle>
    </a:lastRow>
    <a:firstRow>
      <a:tcTxStyle b="on"/>
      <a:tcStyle>
        <a:tcBdr/>
        <a:fill>
          <a:solidFill>
            <a:schemeClr val="accent1">
              <a:tint val="20000"/>
            </a:schemeClr>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showOutlineIcons="0" horzBarState="maximized">
    <p:restoredLeft sz="15987" autoAdjust="0"/>
    <p:restoredTop sz="94660"/>
  </p:normalViewPr>
  <p:slideViewPr>
    <p:cSldViewPr snapToGrid="0">
      <p:cViewPr>
        <p:scale>
          <a:sx n="66" d="100"/>
          <a:sy n="66" d="100"/>
        </p:scale>
        <p:origin x="-858" y="-258"/>
      </p:cViewPr>
      <p:guideLst>
        <p:guide orient="horz" pos="2160"/>
        <p:guide pos="3840"/>
      </p:guideLst>
    </p:cSldViewPr>
  </p:slideViewPr>
  <p:notesTextViewPr>
    <p:cViewPr>
      <p:scale>
        <a:sx n="1" d="1"/>
        <a:sy n="1" d="1"/>
      </p:scale>
      <p:origin x="0" y="0"/>
    </p:cViewPr>
  </p:notesText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3" Type="http://schemas.microsoft.com/office/2011/relationships/chartStyle" Target="style1.xml"/><Relationship Id="rId2" Type="http://schemas.microsoft.com/office/2011/relationships/chartColorStyle" Target="colors1.xml"/><Relationship Id="rId1" Type="http://schemas.openxmlformats.org/officeDocument/2006/relationships/package" Target="../embeddings/Microsoft_Office_Excel_Worksheet1.xlsx"/></Relationships>
</file>

<file path=ppt/charts/chart1.xml><?xml version="1.0" encoding="utf-8"?>
<c:chartSpace xmlns:c="http://schemas.openxmlformats.org/drawingml/2006/chart" xmlns:a="http://schemas.openxmlformats.org/drawingml/2006/main" xmlns:r="http://schemas.openxmlformats.org/officeDocument/2006/relationships">
  <c:lang val="en-US"/>
  <c:chart>
    <c:plotArea>
      <c:layout/>
      <c:pieChart>
        <c:varyColors val="1"/>
        <c:dLbls>
          <c:showPercent val="1"/>
        </c:dLbls>
        <c:firstSliceAng val="0"/>
      </c:pieChart>
      <c:spPr>
        <a:noFill/>
        <a:ln>
          <a:noFill/>
        </a:ln>
        <a:effectLst/>
      </c:spPr>
    </c:plotArea>
    <c:legend>
      <c:legendPos val="r"/>
      <c:layout/>
      <c:spPr>
        <a:noFill/>
        <a:ln>
          <a:noFill/>
        </a:ln>
        <a:effectLst/>
      </c:spPr>
      <c:txPr>
        <a:bodyPr rot="0" spcFirstLastPara="1" vertOverflow="ellipsis" vert="horz" wrap="square" anchor="ctr" anchorCtr="1"/>
        <a:lstStyle/>
        <a:p>
          <a:pPr>
            <a:defRPr sz="1197" b="0" i="0" u="none" strike="noStrike" kern="1200" baseline="0">
              <a:solidFill>
                <a:schemeClr val="tx1">
                  <a:lumMod val="65000"/>
                  <a:lumOff val="35000"/>
                </a:schemeClr>
              </a:solidFill>
              <a:latin typeface="+mn-lt"/>
              <a:ea typeface="+mn-ea"/>
              <a:cs typeface="+mn-cs"/>
            </a:defRPr>
          </a:pPr>
          <a:endParaRPr lang="en-US"/>
        </a:p>
      </c:txPr>
    </c:legend>
    <c:plotVisOnly val="1"/>
    <c:dispBlanksAs val="zero"/>
  </c:chart>
  <c:spPr>
    <a:noFill/>
    <a:ln>
      <a:noFill/>
    </a:ln>
    <a:effectLst/>
  </c:spPr>
  <c:txPr>
    <a:bodyPr/>
    <a:lstStyle/>
    <a:p>
      <a:pPr>
        <a:defRPr/>
      </a:pPr>
      <a:endParaRPr lang="en-US"/>
    </a:p>
  </c:txPr>
  <c:externalData r:id="rId1"/>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smtClean="0"/>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smtClean="0"/>
              <a:t>Click to edit Master subtitle style</a:t>
            </a:r>
            <a:endParaRPr lang="en-US" dirty="0"/>
          </a:p>
        </p:txBody>
      </p:sp>
      <p:sp>
        <p:nvSpPr>
          <p:cNvPr id="4" name="Date Placeholder 3"/>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204171544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349010086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smtClean="0"/>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2946707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18843980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smtClean="0"/>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31512966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282342248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64002968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smtClean="0"/>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47094016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8688615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smtClean="0"/>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smtClean="0"/>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83040580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253447120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smtClean="0"/>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 xmlns:p14="http://schemas.microsoft.com/office/powerpoint/2010/main" val="360959652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smtClean="0"/>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55406493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smtClean="0"/>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75024707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smtClean="0"/>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smtClean="0"/>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3" name="Date Placeholder 2"/>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29614620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4034108517"/>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1CDB55A0-0077-4095-AD54-70E16A69A52C}" type="datetimeFigureOut">
              <a:rPr lang="en-IN" smtClean="0"/>
              <a:pPr/>
              <a:t>12-04-2024</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5694010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smtClean="0"/>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CDB55A0-0077-4095-AD54-70E16A69A52C}" type="datetimeFigureOut">
              <a:rPr lang="en-IN" smtClean="0"/>
              <a:pPr/>
              <a:t>12-04-2024</a:t>
            </a:fld>
            <a:endParaRPr lang="en-IN"/>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8EB5EDC4-E40C-4846-AC97-D357FDABA2DC}" type="slidenum">
              <a:rPr lang="en-IN" smtClean="0"/>
              <a:pPr/>
              <a:t>‹#›</a:t>
            </a:fld>
            <a:endParaRPr lang="en-IN"/>
          </a:p>
        </p:txBody>
      </p:sp>
    </p:spTree>
    <p:extLst>
      <p:ext uri="{BB962C8B-B14F-4D97-AF65-F5344CB8AC3E}">
        <p14:creationId xmlns="" xmlns:p14="http://schemas.microsoft.com/office/powerpoint/2010/main" val="1033173412"/>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8.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jpeg"/><Relationship Id="rId7" Type="http://schemas.openxmlformats.org/officeDocument/2006/relationships/image" Target="../media/image8.jpeg"/><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image" Target="../media/image7.jpeg"/><Relationship Id="rId5" Type="http://schemas.openxmlformats.org/officeDocument/2006/relationships/image" Target="../media/image6.jpeg"/><Relationship Id="rId4" Type="http://schemas.openxmlformats.org/officeDocument/2006/relationships/image" Target="../media/image5.png"/></Relationships>
</file>

<file path=ppt/slides/_rels/slide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chart" Target="../charts/chart1.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13.png"/><Relationship Id="rId7" Type="http://schemas.openxmlformats.org/officeDocument/2006/relationships/image" Target="../media/image17.png"/><Relationship Id="rId2" Type="http://schemas.openxmlformats.org/officeDocument/2006/relationships/image" Target="../media/image12.png"/><Relationship Id="rId1" Type="http://schemas.openxmlformats.org/officeDocument/2006/relationships/slideLayout" Target="../slideLayouts/slideLayout2.xml"/><Relationship Id="rId6" Type="http://schemas.openxmlformats.org/officeDocument/2006/relationships/image" Target="../media/image16.png"/><Relationship Id="rId5" Type="http://schemas.openxmlformats.org/officeDocument/2006/relationships/image" Target="../media/image15.png"/><Relationship Id="rId4" Type="http://schemas.openxmlformats.org/officeDocument/2006/relationships/image" Target="../media/image14.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8.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21.jpeg"/><Relationship Id="rId2" Type="http://schemas.openxmlformats.org/officeDocument/2006/relationships/audio" Target="../media/audio1"/><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Box 6"/>
          <p:cNvSpPr txBox="1"/>
          <p:nvPr/>
        </p:nvSpPr>
        <p:spPr>
          <a:xfrm>
            <a:off x="771525" y="824668"/>
            <a:ext cx="10515600" cy="1369606"/>
          </a:xfrm>
          <a:prstGeom prst="rect">
            <a:avLst/>
          </a:prstGeom>
          <a:noFill/>
        </p:spPr>
        <p:txBody>
          <a:bodyPr wrap="square" rtlCol="0">
            <a:spAutoFit/>
          </a:bodyPr>
          <a:lstStyle/>
          <a:p>
            <a:pPr algn="ctr">
              <a:lnSpc>
                <a:spcPct val="150000"/>
              </a:lnSpc>
              <a:spcAft>
                <a:spcPts val="0"/>
              </a:spcAft>
            </a:pPr>
            <a:r>
              <a:rPr lang="en-US" b="1" dirty="0">
                <a:latin typeface="Times New Roman" panose="02020603050405020304" pitchFamily="18" charset="0"/>
                <a:ea typeface="Times New Roman" panose="02020603050405020304" pitchFamily="18" charset="0"/>
              </a:rPr>
              <a:t> </a:t>
            </a:r>
            <a:endParaRPr lang="en-IN" sz="1200" dirty="0">
              <a:latin typeface="Times New Roman" panose="02020603050405020304" pitchFamily="18" charset="0"/>
              <a:ea typeface="Times New Roman" panose="02020603050405020304" pitchFamily="18" charset="0"/>
            </a:endParaRPr>
          </a:p>
          <a:p>
            <a:pPr algn="ctr">
              <a:spcAft>
                <a:spcPts val="0"/>
              </a:spcAft>
            </a:pPr>
            <a:r>
              <a:rPr lang="en-US" sz="2800" b="1" dirty="0">
                <a:latin typeface="Times New Roman" panose="02020603050405020304" pitchFamily="18" charset="0"/>
                <a:ea typeface="Times New Roman" panose="02020603050405020304" pitchFamily="18" charset="0"/>
              </a:rPr>
              <a:t>THE STUDY ON </a:t>
            </a:r>
            <a:r>
              <a:rPr lang="en-US" sz="2800" b="1" dirty="0" smtClean="0">
                <a:latin typeface="Times New Roman" panose="02020603050405020304" pitchFamily="18" charset="0"/>
                <a:ea typeface="Times New Roman" panose="02020603050405020304" pitchFamily="18" charset="0"/>
              </a:rPr>
              <a:t>CUSTOMER SATISFICATION TOWARDS MOBILE USAGE IN VIRUDHUNAGAR</a:t>
            </a:r>
          </a:p>
        </p:txBody>
      </p:sp>
      <p:sp>
        <p:nvSpPr>
          <p:cNvPr id="8" name="TextBox 7"/>
          <p:cNvSpPr txBox="1"/>
          <p:nvPr/>
        </p:nvSpPr>
        <p:spPr>
          <a:xfrm>
            <a:off x="204106" y="2146300"/>
            <a:ext cx="11650438" cy="4524315"/>
          </a:xfrm>
          <a:prstGeom prst="rect">
            <a:avLst/>
          </a:prstGeom>
          <a:noFill/>
        </p:spPr>
        <p:txBody>
          <a:bodyPr wrap="square" rtlCol="0">
            <a:spAutoFit/>
          </a:bodyPr>
          <a:lstStyle/>
          <a:p>
            <a:pPr algn="ctr">
              <a:lnSpc>
                <a:spcPct val="150000"/>
              </a:lnSpc>
            </a:pPr>
            <a:r>
              <a:rPr lang="en-US" sz="1600" i="1" dirty="0" smtClean="0">
                <a:latin typeface="Times New Roman" panose="02020603050405020304" pitchFamily="18" charset="0"/>
                <a:cs typeface="Times New Roman" panose="02020603050405020304" pitchFamily="18" charset="0"/>
              </a:rPr>
              <a:t>Project </a:t>
            </a:r>
            <a:r>
              <a:rPr lang="en-US" sz="1600" i="1" dirty="0">
                <a:latin typeface="Times New Roman" panose="02020603050405020304" pitchFamily="18" charset="0"/>
                <a:cs typeface="Times New Roman" panose="02020603050405020304" pitchFamily="18" charset="0"/>
              </a:rPr>
              <a:t>report submitted to V.H.N. Senthikumara Nadar College (Autonomous), Virudhunagar, in  partial fulfilment of the requirements for the Degree </a:t>
            </a:r>
            <a:r>
              <a:rPr lang="en-US" sz="1600" i="1" dirty="0" smtClean="0">
                <a:latin typeface="Times New Roman" panose="02020603050405020304" pitchFamily="18" charset="0"/>
                <a:cs typeface="Times New Roman" panose="02020603050405020304" pitchFamily="18" charset="0"/>
              </a:rPr>
              <a:t>of</a:t>
            </a:r>
            <a:r>
              <a:rPr lang="en-IN" sz="1600" dirty="0">
                <a:latin typeface="Times New Roman" panose="02020603050405020304" pitchFamily="18" charset="0"/>
                <a:cs typeface="Times New Roman" panose="02020603050405020304" pitchFamily="18" charset="0"/>
              </a:rPr>
              <a:t> </a:t>
            </a:r>
            <a:r>
              <a:rPr lang="en-US" sz="1600" dirty="0" smtClean="0">
                <a:latin typeface="Times New Roman" panose="02020603050405020304" pitchFamily="18" charset="0"/>
                <a:cs typeface="Times New Roman" panose="02020603050405020304" pitchFamily="18" charset="0"/>
              </a:rPr>
              <a:t>“Bachelor </a:t>
            </a:r>
            <a:r>
              <a:rPr lang="en-US" sz="1600" dirty="0">
                <a:latin typeface="Times New Roman" panose="02020603050405020304" pitchFamily="18" charset="0"/>
                <a:cs typeface="Times New Roman" panose="02020603050405020304" pitchFamily="18" charset="0"/>
              </a:rPr>
              <a:t>of Commerce with Computer Application”</a:t>
            </a:r>
            <a:endParaRPr lang="en-IN" sz="1600" dirty="0">
              <a:latin typeface="Times New Roman" panose="02020603050405020304" pitchFamily="18" charset="0"/>
              <a:cs typeface="Times New Roman" panose="02020603050405020304" pitchFamily="18" charset="0"/>
            </a:endParaRPr>
          </a:p>
          <a:p>
            <a:pPr algn="ctr">
              <a:lnSpc>
                <a:spcPct val="150000"/>
              </a:lnSpc>
            </a:pPr>
            <a:r>
              <a:rPr lang="en-US" sz="1600" dirty="0" smtClean="0">
                <a:latin typeface="Times New Roman" panose="02020603050405020304" pitchFamily="18" charset="0"/>
                <a:cs typeface="Times New Roman" panose="02020603050405020304" pitchFamily="18" charset="0"/>
              </a:rPr>
              <a:t>By</a:t>
            </a:r>
            <a:endParaRPr lang="en-US" sz="1400" dirty="0" smtClean="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algn="ctr"/>
            <a:r>
              <a:rPr lang="en-IN" b="1" dirty="0" smtClean="0">
                <a:latin typeface="Times New Roman" panose="02020603050405020304" pitchFamily="18" charset="0"/>
                <a:cs typeface="Times New Roman" panose="02020603050405020304" pitchFamily="18" charset="0"/>
              </a:rPr>
              <a:t>   P. VISHNU    (21SUCC094)</a:t>
            </a:r>
          </a:p>
          <a:p>
            <a:pPr algn="ctr"/>
            <a:r>
              <a:rPr lang="en-IN" b="1" dirty="0" smtClean="0">
                <a:latin typeface="Times New Roman" panose="02020603050405020304" pitchFamily="18" charset="0"/>
                <a:cs typeface="Times New Roman" panose="02020603050405020304" pitchFamily="18" charset="0"/>
              </a:rPr>
              <a:t>V. YUVA RAJ   (21SUCC095)</a:t>
            </a:r>
            <a:endParaRPr lang="en-US" b="1" dirty="0" smtClean="0">
              <a:latin typeface="Times New Roman" panose="02020603050405020304" pitchFamily="18" charset="0"/>
              <a:cs typeface="Times New Roman" panose="02020603050405020304" pitchFamily="18" charset="0"/>
            </a:endParaRPr>
          </a:p>
          <a:p>
            <a:endParaRPr lang="en-IN" dirty="0" smtClean="0"/>
          </a:p>
          <a:p>
            <a:pPr algn="ctr"/>
            <a:r>
              <a:rPr lang="en-US" dirty="0" smtClean="0">
                <a:latin typeface="Times New Roman" panose="02020603050405020304" pitchFamily="18" charset="0"/>
                <a:cs typeface="Times New Roman" panose="02020603050405020304" pitchFamily="18" charset="0"/>
              </a:rPr>
              <a:t>Under the Guidance of</a:t>
            </a:r>
            <a:endParaRPr lang="en-IN" dirty="0" smtClean="0">
              <a:latin typeface="Times New Roman" panose="02020603050405020304" pitchFamily="18" charset="0"/>
              <a:cs typeface="Times New Roman" panose="02020603050405020304" pitchFamily="18" charset="0"/>
            </a:endParaRPr>
          </a:p>
          <a:p>
            <a:pPr algn="ctr"/>
            <a:r>
              <a:rPr lang="en-US" b="1" dirty="0" smtClean="0">
                <a:latin typeface="Times New Roman" panose="02020603050405020304" pitchFamily="18" charset="0"/>
                <a:cs typeface="Times New Roman" panose="02020603050405020304" pitchFamily="18" charset="0"/>
              </a:rPr>
              <a:t>Ms. SHUNMATHY V </a:t>
            </a:r>
          </a:p>
          <a:p>
            <a:pPr algn="ctr"/>
            <a:r>
              <a:rPr lang="en-US" b="1" dirty="0" smtClean="0">
                <a:latin typeface="Times New Roman" panose="02020603050405020304" pitchFamily="18" charset="0"/>
                <a:cs typeface="Times New Roman" panose="02020603050405020304" pitchFamily="18" charset="0"/>
              </a:rPr>
              <a:t>M.com., </a:t>
            </a:r>
            <a:r>
              <a:rPr lang="en-US" b="1" dirty="0" err="1" smtClean="0">
                <a:latin typeface="Times New Roman" panose="02020603050405020304" pitchFamily="18" charset="0"/>
                <a:cs typeface="Times New Roman" panose="02020603050405020304" pitchFamily="18" charset="0"/>
              </a:rPr>
              <a:t>M.Phil.</a:t>
            </a:r>
            <a:r>
              <a:rPr lang="en-US" b="1" dirty="0" smtClean="0">
                <a:latin typeface="Times New Roman" panose="02020603050405020304" pitchFamily="18" charset="0"/>
                <a:cs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a:p>
            <a:pPr algn="ctr">
              <a:lnSpc>
                <a:spcPct val="150000"/>
              </a:lnSpc>
            </a:pPr>
            <a:r>
              <a:rPr lang="en-US" dirty="0">
                <a:latin typeface="Times New Roman" panose="02020603050405020304" pitchFamily="18" charset="0"/>
                <a:cs typeface="Times New Roman" panose="02020603050405020304" pitchFamily="18" charset="0"/>
              </a:rPr>
              <a:t>Assistant Professor, Department of Commerce (CA) SF</a:t>
            </a:r>
            <a:endParaRPr lang="en-IN" dirty="0">
              <a:latin typeface="Times New Roman" panose="02020603050405020304" pitchFamily="18" charset="0"/>
              <a:cs typeface="Times New Roman" panose="02020603050405020304" pitchFamily="18" charset="0"/>
            </a:endParaRPr>
          </a:p>
          <a:p>
            <a:pPr algn="ctr">
              <a:lnSpc>
                <a:spcPct val="150000"/>
              </a:lnSpc>
            </a:pPr>
            <a:r>
              <a:rPr lang="en-US" dirty="0">
                <a:latin typeface="Times New Roman" panose="02020603050405020304" pitchFamily="18" charset="0"/>
                <a:cs typeface="Times New Roman" panose="02020603050405020304" pitchFamily="18" charset="0"/>
              </a:rPr>
              <a:t>V.H.N. Senthikumara Nadar College (Autonomous)</a:t>
            </a:r>
            <a:endParaRPr lang="en-IN" dirty="0">
              <a:latin typeface="Times New Roman" panose="02020603050405020304" pitchFamily="18" charset="0"/>
              <a:cs typeface="Times New Roman" panose="02020603050405020304" pitchFamily="18" charset="0"/>
            </a:endParaRPr>
          </a:p>
          <a:p>
            <a:pPr algn="ctr"/>
            <a:endParaRPr lang="en-US" dirty="0" smtClean="0">
              <a:latin typeface="Times New Roman" panose="02020603050405020304" pitchFamily="18" charset="0"/>
              <a:cs typeface="Times New Roman" panose="02020603050405020304" pitchFamily="18" charset="0"/>
            </a:endParaRPr>
          </a:p>
        </p:txBody>
      </p:sp>
      <p:pic>
        <p:nvPicPr>
          <p:cNvPr id="9" name="Picture 8"/>
          <p:cNvPicPr>
            <a:picLocks noChangeAspect="1"/>
          </p:cNvPicPr>
          <p:nvPr/>
        </p:nvPicPr>
        <p:blipFill>
          <a:blip r:embed="rId2" cstate="print"/>
          <a:stretch>
            <a:fillRect/>
          </a:stretch>
        </p:blipFill>
        <p:spPr>
          <a:xfrm>
            <a:off x="5359894" y="0"/>
            <a:ext cx="1099925" cy="1131653"/>
          </a:xfrm>
          <a:prstGeom prst="rect">
            <a:avLst/>
          </a:prstGeom>
        </p:spPr>
      </p:pic>
    </p:spTree>
    <p:extLst>
      <p:ext uri="{BB962C8B-B14F-4D97-AF65-F5344CB8AC3E}">
        <p14:creationId xmlns="" xmlns:p14="http://schemas.microsoft.com/office/powerpoint/2010/main" val="36287813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55738" y="391885"/>
            <a:ext cx="10353761" cy="1326321"/>
          </a:xfrm>
        </p:spPr>
        <p:txBody>
          <a:bodyPr/>
          <a:lstStyle/>
          <a:p>
            <a:r>
              <a:rPr lang="en-IN" dirty="0" smtClean="0"/>
              <a:t>abstract</a:t>
            </a:r>
            <a:endParaRPr lang="en-US" dirty="0"/>
          </a:p>
        </p:txBody>
      </p:sp>
      <p:sp>
        <p:nvSpPr>
          <p:cNvPr id="3" name="Content Placeholder 2"/>
          <p:cNvSpPr>
            <a:spLocks noGrp="1"/>
          </p:cNvSpPr>
          <p:nvPr>
            <p:ph idx="1"/>
          </p:nvPr>
        </p:nvSpPr>
        <p:spPr>
          <a:xfrm>
            <a:off x="769257" y="1843314"/>
            <a:ext cx="10798629" cy="4557486"/>
          </a:xfrm>
        </p:spPr>
        <p:txBody>
          <a:bodyPr>
            <a:normAutofit fontScale="92500"/>
          </a:bodyPr>
          <a:lstStyle/>
          <a:p>
            <a:pPr algn="just">
              <a:buNone/>
            </a:pPr>
            <a:r>
              <a:rPr lang="en-US" dirty="0" smtClean="0"/>
              <a:t>    Customers are becoming more dependable on the smart phones. Nowadays people seems to become more dependent towards </a:t>
            </a:r>
            <a:r>
              <a:rPr lang="en-US" dirty="0" err="1" smtClean="0"/>
              <a:t>smartphone</a:t>
            </a:r>
            <a:r>
              <a:rPr lang="en-US" dirty="0" smtClean="0"/>
              <a:t> due to its convenience, reliability, durability, adorable camera features, fast installation of various apps and the most important factor is that it can do entire functions that computer performs. The major objective of this research study undertakes on identifying the various brands of </a:t>
            </a:r>
            <a:r>
              <a:rPr lang="en-US" dirty="0" err="1" smtClean="0"/>
              <a:t>smartphones</a:t>
            </a:r>
            <a:r>
              <a:rPr lang="en-US" dirty="0" smtClean="0"/>
              <a:t> that are preferred by the customers to analyze the satisfaction level of customers towards </a:t>
            </a:r>
            <a:r>
              <a:rPr lang="en-US" dirty="0" err="1" smtClean="0"/>
              <a:t>smartphone</a:t>
            </a:r>
            <a:r>
              <a:rPr lang="en-US" dirty="0" smtClean="0"/>
              <a:t> usage. These applications include but are not limited to: audio, web browsing, video gaming, texting, and video streaming. The industry is keen on producing lighter devices with an ever-increasing data rates and computing demands, and the race to satisfy consumers appetite will no doubt continue to escalate. The study covers customer satisfaction towards </a:t>
            </a:r>
            <a:r>
              <a:rPr lang="en-US" dirty="0" err="1" smtClean="0"/>
              <a:t>smartphone</a:t>
            </a:r>
            <a:r>
              <a:rPr lang="en-US" dirty="0" smtClean="0"/>
              <a:t> usage. This survey is conducted in </a:t>
            </a:r>
            <a:r>
              <a:rPr lang="en-US" dirty="0" err="1" smtClean="0"/>
              <a:t>Virudhunagar</a:t>
            </a:r>
            <a:r>
              <a:rPr lang="en-US" dirty="0" smtClean="0"/>
              <a:t> City. The study based on primary data. </a:t>
            </a:r>
          </a:p>
          <a:p>
            <a:pPr algn="just">
              <a:buNone/>
            </a:pPr>
            <a:r>
              <a:rPr lang="en-US" b="1" dirty="0" smtClean="0"/>
              <a:t>     Key words: Smartphone, Users and satisfaction levels.</a:t>
            </a:r>
            <a:endParaRPr lang="en-US" dirty="0" smtClean="0"/>
          </a:p>
          <a:p>
            <a:pPr>
              <a:buNone/>
            </a:pPr>
            <a:endParaRPr 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83167" y="174171"/>
            <a:ext cx="10353761" cy="654128"/>
          </a:xfrm>
        </p:spPr>
        <p:txBody>
          <a:bodyPr>
            <a:noAutofit/>
          </a:bodyPr>
          <a:lstStyle/>
          <a:p>
            <a:r>
              <a:rPr lang="en-US" sz="2800"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INTRODUCTION</a:t>
            </a:r>
            <a:r>
              <a:rPr lang="en-IN" sz="2800" dirty="0">
                <a:effectLst/>
              </a:rPr>
              <a:t/>
            </a:r>
            <a:br>
              <a:rPr lang="en-IN" sz="2800" dirty="0">
                <a:effectLst/>
              </a:rPr>
            </a:br>
            <a:endParaRPr lang="en-IN" sz="2800" dirty="0"/>
          </a:p>
        </p:txBody>
      </p:sp>
      <p:sp>
        <p:nvSpPr>
          <p:cNvPr id="3" name="Content Placeholder 2"/>
          <p:cNvSpPr>
            <a:spLocks noGrp="1"/>
          </p:cNvSpPr>
          <p:nvPr>
            <p:ph idx="1"/>
          </p:nvPr>
        </p:nvSpPr>
        <p:spPr>
          <a:xfrm>
            <a:off x="653143" y="841829"/>
            <a:ext cx="11001828" cy="5689600"/>
          </a:xfrm>
        </p:spPr>
        <p:txBody>
          <a:bodyPr>
            <a:noAutofit/>
          </a:bodyPr>
          <a:lstStyle/>
          <a:p>
            <a:pPr marL="0" indent="0" algn="just">
              <a:buNone/>
            </a:pPr>
            <a:r>
              <a:rPr lang="en-IN" sz="1600" dirty="0" smtClean="0">
                <a:effectLst/>
                <a:cs typeface="Times New Roman" panose="02020603050405020304" pitchFamily="18" charset="0"/>
              </a:rPr>
              <a:t>Nowadays the trend of having </a:t>
            </a:r>
            <a:r>
              <a:rPr lang="en-IN" sz="1600" dirty="0" err="1" smtClean="0">
                <a:effectLst/>
                <a:cs typeface="Times New Roman" panose="02020603050405020304" pitchFamily="18" charset="0"/>
              </a:rPr>
              <a:t>smartphone</a:t>
            </a:r>
            <a:r>
              <a:rPr lang="en-IN" sz="1600" dirty="0" smtClean="0">
                <a:effectLst/>
                <a:cs typeface="Times New Roman" panose="02020603050405020304" pitchFamily="18" charset="0"/>
              </a:rPr>
              <a:t> has taken place at the great extent. Each and every consumer is looking for various brands of </a:t>
            </a:r>
            <a:r>
              <a:rPr lang="en-IN" sz="1600" dirty="0" err="1" smtClean="0">
                <a:effectLst/>
                <a:cs typeface="Times New Roman" panose="02020603050405020304" pitchFamily="18" charset="0"/>
              </a:rPr>
              <a:t>smartphone</a:t>
            </a:r>
            <a:r>
              <a:rPr lang="en-IN" sz="1600" dirty="0" smtClean="0">
                <a:effectLst/>
                <a:cs typeface="Times New Roman" panose="02020603050405020304" pitchFamily="18" charset="0"/>
              </a:rPr>
              <a:t> in order to analyze and compare which would be more compatible in terms of design, quality, pricing, advance technology etc. Apple is the type of company which understands what the customers actually prefer and also the future aspects of the innovation in such a manner that no other company thinks to do. There are various other models of </a:t>
            </a:r>
            <a:r>
              <a:rPr lang="en-IN" sz="1600" dirty="0" err="1" smtClean="0">
                <a:effectLst/>
                <a:cs typeface="Times New Roman" panose="02020603050405020304" pitchFamily="18" charset="0"/>
              </a:rPr>
              <a:t>smartphone</a:t>
            </a:r>
            <a:r>
              <a:rPr lang="en-IN" sz="1600" dirty="0" smtClean="0">
                <a:effectLst/>
                <a:cs typeface="Times New Roman" panose="02020603050405020304" pitchFamily="18" charset="0"/>
              </a:rPr>
              <a:t> such as  </a:t>
            </a:r>
            <a:r>
              <a:rPr lang="en-IN" sz="1600" dirty="0" err="1" smtClean="0">
                <a:effectLst/>
                <a:cs typeface="Times New Roman" panose="02020603050405020304" pitchFamily="18" charset="0"/>
              </a:rPr>
              <a:t>samsung</a:t>
            </a:r>
            <a:r>
              <a:rPr lang="en-IN" sz="1600" dirty="0" smtClean="0">
                <a:effectLst/>
                <a:cs typeface="Times New Roman" panose="02020603050405020304" pitchFamily="18" charset="0"/>
              </a:rPr>
              <a:t>, </a:t>
            </a:r>
            <a:r>
              <a:rPr lang="en-IN" sz="1600" dirty="0" err="1" smtClean="0">
                <a:effectLst/>
                <a:cs typeface="Times New Roman" panose="02020603050405020304" pitchFamily="18" charset="0"/>
              </a:rPr>
              <a:t>redmi</a:t>
            </a:r>
            <a:r>
              <a:rPr lang="en-IN" sz="1600" dirty="0" smtClean="0">
                <a:effectLst/>
                <a:cs typeface="Times New Roman" panose="02020603050405020304" pitchFamily="18" charset="0"/>
              </a:rPr>
              <a:t>, </a:t>
            </a:r>
            <a:r>
              <a:rPr lang="en-IN" sz="1600" dirty="0" err="1" smtClean="0">
                <a:effectLst/>
                <a:cs typeface="Times New Roman" panose="02020603050405020304" pitchFamily="18" charset="0"/>
              </a:rPr>
              <a:t>oppo</a:t>
            </a:r>
            <a:r>
              <a:rPr lang="en-IN" sz="1600" dirty="0" smtClean="0">
                <a:effectLst/>
                <a:cs typeface="Times New Roman" panose="02020603050405020304" pitchFamily="18" charset="0"/>
              </a:rPr>
              <a:t>, vivo, which are also fulfilling the expectation of customer base and are mostly preferred by the medium income section of customer base</a:t>
            </a:r>
            <a:r>
              <a:rPr lang="en-IN" sz="1600" dirty="0" smtClean="0">
                <a:effectLst/>
                <a:latin typeface="Times New Roman" panose="02020603050405020304" pitchFamily="18" charset="0"/>
                <a:cs typeface="Times New Roman" panose="02020603050405020304" pitchFamily="18" charset="0"/>
              </a:rPr>
              <a:t>. In the recent years it was shown that 65-70% of the world’s population own at least one </a:t>
            </a:r>
            <a:r>
              <a:rPr lang="en-IN" sz="1600" dirty="0" err="1" smtClean="0">
                <a:effectLst/>
                <a:latin typeface="Times New Roman" panose="02020603050405020304" pitchFamily="18" charset="0"/>
                <a:cs typeface="Times New Roman" panose="02020603050405020304" pitchFamily="18" charset="0"/>
              </a:rPr>
              <a:t>smartphone</a:t>
            </a:r>
            <a:r>
              <a:rPr lang="en-IN" sz="1600" dirty="0" smtClean="0">
                <a:effectLst/>
                <a:latin typeface="Times New Roman" panose="02020603050405020304" pitchFamily="18" charset="0"/>
                <a:cs typeface="Times New Roman" panose="02020603050405020304" pitchFamily="18" charset="0"/>
              </a:rPr>
              <a:t>.</a:t>
            </a:r>
            <a:r>
              <a:rPr lang="en-IN" sz="1600" b="1" dirty="0" smtClean="0">
                <a:effectLst/>
                <a:latin typeface="Times New Roman" panose="02020603050405020304" pitchFamily="18" charset="0"/>
                <a:cs typeface="Times New Roman" panose="02020603050405020304" pitchFamily="18" charset="0"/>
              </a:rPr>
              <a:t> </a:t>
            </a:r>
            <a:r>
              <a:rPr lang="en-US" sz="1600" dirty="0" smtClean="0"/>
              <a:t>In Today’s Scenario most of the consumers are looking towards buying more technological and advanced </a:t>
            </a:r>
            <a:r>
              <a:rPr lang="en-US" sz="1600" dirty="0" err="1" smtClean="0"/>
              <a:t>smartphone</a:t>
            </a:r>
            <a:r>
              <a:rPr lang="en-US" sz="1600" dirty="0" smtClean="0"/>
              <a:t>. Therefore, the consumers belonging to higher or medium income group are preferring a reliable smart phone for their long-term usage maybe their preference would be different regarding choosing of models depending on pricing structure. As Apple costs premium pricing than other smart phones therefore only higher section of the society thinks about purchasing </a:t>
            </a:r>
            <a:r>
              <a:rPr lang="en-US" sz="1600" dirty="0" err="1" smtClean="0"/>
              <a:t>iPhone</a:t>
            </a:r>
            <a:r>
              <a:rPr lang="en-US" sz="1600" dirty="0" smtClean="0"/>
              <a:t> rest of the consumers who can’t afford premium pricing go towards Samsung, Redmi etc. Samsung is also one of the trusted and loyal smart phones preferred by one third of the population because of its long-term durability. India has the fastest-growing </a:t>
            </a:r>
            <a:r>
              <a:rPr lang="en-US" sz="1600" dirty="0" err="1" smtClean="0"/>
              <a:t>smartphone</a:t>
            </a:r>
            <a:r>
              <a:rPr lang="en-US" sz="1600" dirty="0" smtClean="0"/>
              <a:t> market in the world, everybody looks India as a huge landing ground for their innovation therefore the Indian market has huge competition and thus its necessary to understand the customer perception in order to satisfy their requirements in long run. Customer satisfaction plays a crucial factor in terms of finding whether the customer is preferring the particular model of </a:t>
            </a:r>
            <a:r>
              <a:rPr lang="en-US" sz="1600" dirty="0" err="1" smtClean="0"/>
              <a:t>smartphone</a:t>
            </a:r>
            <a:r>
              <a:rPr lang="en-US" sz="1600" dirty="0" smtClean="0"/>
              <a:t> or switching towards other models due to some gaps which can be battery issues, network issues etc. Therefore, to overcome this issue various companies are taking the feedback in order to keep their customer base retained for longer time period.</a:t>
            </a:r>
            <a:r>
              <a:rPr lang="en-IN" sz="1600" b="1" dirty="0" smtClean="0">
                <a:effectLst/>
                <a:latin typeface="Times New Roman" panose="02020603050405020304" pitchFamily="18" charset="0"/>
                <a:cs typeface="Times New Roman" panose="02020603050405020304" pitchFamily="18" charset="0"/>
              </a:rPr>
              <a:t>   </a:t>
            </a:r>
            <a:endParaRPr lang="en-IN" sz="16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54598893"/>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032" y="645886"/>
            <a:ext cx="10353761" cy="1326321"/>
          </a:xfrm>
        </p:spPr>
        <p:txBody>
          <a:bodyPr>
            <a:normAutofit/>
          </a:bodyPr>
          <a:lstStyle/>
          <a:p>
            <a:r>
              <a:rPr lang="en-US" sz="2800"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Objectives  of  </a:t>
            </a:r>
            <a:r>
              <a:rPr lang="en-US"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study</a:t>
            </a:r>
            <a:r>
              <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94530" y="2064315"/>
            <a:ext cx="10471756" cy="3973628"/>
          </a:xfrm>
        </p:spPr>
        <p:txBody>
          <a:bodyPr>
            <a:normAutofit/>
          </a:bodyPr>
          <a:lstStyle/>
          <a:p>
            <a:pPr lvl="0" algn="just"/>
            <a:r>
              <a:rPr lang="en-US" dirty="0" smtClean="0"/>
              <a:t>To </a:t>
            </a:r>
            <a:r>
              <a:rPr lang="en-US" dirty="0" smtClean="0"/>
              <a:t>analyze the factors influenced while purchasing mobile phones.</a:t>
            </a:r>
            <a:endParaRPr lang="en-US" sz="1800" dirty="0" smtClean="0"/>
          </a:p>
          <a:p>
            <a:pPr lvl="0" algn="just"/>
            <a:r>
              <a:rPr lang="en-US" dirty="0" smtClean="0"/>
              <a:t>To analyze the customer satisfaction level towards usage of mobile phones.</a:t>
            </a:r>
            <a:endParaRPr lang="en-US" sz="1800" dirty="0" smtClean="0"/>
          </a:p>
          <a:p>
            <a:pPr lvl="0" algn="just"/>
            <a:r>
              <a:rPr lang="en-US" dirty="0" smtClean="0"/>
              <a:t>To explore the problems faced by the customers in usage of mobile phones.</a:t>
            </a:r>
            <a:endParaRPr lang="en-US" sz="1800" dirty="0" smtClean="0"/>
          </a:p>
          <a:p>
            <a:pPr lvl="0" algn="just"/>
            <a:r>
              <a:rPr lang="en-US" dirty="0" smtClean="0"/>
              <a:t>To offer solution regarding the problems faced by the customers in usage of mobile phones.</a:t>
            </a:r>
            <a:endParaRPr lang="en-US" sz="1800" dirty="0" smtClean="0"/>
          </a:p>
          <a:p>
            <a:pPr lvl="2" algn="just">
              <a:buNone/>
            </a:pPr>
            <a:endParaRPr lang="en-IN" sz="2000" b="1" dirty="0">
              <a:effectLst/>
              <a:latin typeface="Times New Roman" panose="02020603050405020304" pitchFamily="18" charset="0"/>
              <a:cs typeface="Times New Roman" panose="02020603050405020304" pitchFamily="18" charset="0"/>
            </a:endParaRPr>
          </a:p>
          <a:p>
            <a:pPr marL="0" indent="0" algn="just">
              <a:buNone/>
            </a:pPr>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792595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99885" y="493484"/>
            <a:ext cx="10353761" cy="1326321"/>
          </a:xfrm>
        </p:spPr>
        <p:txBody>
          <a:bodyPr/>
          <a:lstStyle/>
          <a:p>
            <a:r>
              <a:rPr lang="en-US" sz="2800"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Research  design  and  methodology</a:t>
            </a:r>
            <a:r>
              <a:rPr lang="en-IN" dirty="0">
                <a:effectLst>
                  <a:outerShdw blurRad="38100" dist="38100" dir="2700000" algn="tl">
                    <a:srgbClr val="000000">
                      <a:alpha val="43137"/>
                    </a:srgbClr>
                  </a:outerShdw>
                </a:effectLst>
              </a:rPr>
              <a:t/>
            </a:r>
            <a:br>
              <a:rPr lang="en-IN" dirty="0">
                <a:effectLst>
                  <a:outerShdw blurRad="38100" dist="38100" dir="2700000" algn="tl">
                    <a:srgbClr val="000000">
                      <a:alpha val="43137"/>
                    </a:srgbClr>
                  </a:outerShdw>
                </a:effectLst>
              </a:rPr>
            </a:br>
            <a:endParaRPr lang="en-IN"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899281" y="1959428"/>
            <a:ext cx="10353762" cy="4318907"/>
          </a:xfrm>
        </p:spPr>
        <p:txBody>
          <a:bodyPr/>
          <a:lstStyle/>
          <a:p>
            <a:pPr algn="just">
              <a:buNone/>
            </a:pPr>
            <a:r>
              <a:rPr lang="en-US" sz="2400" dirty="0" smtClean="0"/>
              <a:t>   In view of considerable data-from survey research, secondary sources also collected and presented in this research </a:t>
            </a:r>
            <a:r>
              <a:rPr lang="en-US" sz="2400" dirty="0" smtClean="0"/>
              <a:t>report. framing </a:t>
            </a:r>
            <a:r>
              <a:rPr lang="en-US" sz="2400" dirty="0" smtClean="0"/>
              <a:t>of the questionnaire and the evaluation of the data collected have been designed accordingly. The suggestions of the study emerge from the inferences drawn from the sample survey of Mobile Usage customers in Virudhunagar.</a:t>
            </a:r>
          </a:p>
          <a:p>
            <a:pPr>
              <a:buNone/>
            </a:pPr>
            <a:endParaRPr lang="en-US" b="1" dirty="0" smtClean="0">
              <a:effectLst/>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404782285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38834" y="655867"/>
            <a:ext cx="10353761" cy="1326321"/>
          </a:xfrm>
        </p:spPr>
        <p:txBody>
          <a:bodyPr>
            <a:normAutofit/>
          </a:bodyPr>
          <a:lstStyle/>
          <a:p>
            <a:r>
              <a:rPr lang="en-US"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Limitation </a:t>
            </a:r>
            <a:r>
              <a:rPr lang="en-US" sz="2800" u="sng" dirty="0" smtClean="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of  the  </a:t>
            </a:r>
            <a:r>
              <a:rPr lang="en-US"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study</a:t>
            </a:r>
            <a:r>
              <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t/>
            </a:r>
            <a:br>
              <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rPr>
            </a:br>
            <a:endPar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1233715" y="2104571"/>
            <a:ext cx="9811657" cy="4354285"/>
          </a:xfrm>
        </p:spPr>
        <p:txBody>
          <a:bodyPr>
            <a:normAutofit/>
          </a:bodyPr>
          <a:lstStyle/>
          <a:p>
            <a:pPr lvl="0"/>
            <a:r>
              <a:rPr lang="en-US" dirty="0" smtClean="0"/>
              <a:t>The present study is limited its scope to Virudhunagar only. Hence the findings of the study may not be generalized to the big cities at the national level.</a:t>
            </a:r>
          </a:p>
          <a:p>
            <a:pPr lvl="0"/>
            <a:r>
              <a:rPr lang="en-US" dirty="0" smtClean="0"/>
              <a:t>Due to time constraint, the number of respondents was limited.</a:t>
            </a:r>
          </a:p>
          <a:p>
            <a:pPr lvl="0"/>
            <a:r>
              <a:rPr lang="en-US" dirty="0" smtClean="0"/>
              <a:t>There are chances of personal bias in convenient sampling technique used in this study. It may influence the findings of the study.</a:t>
            </a:r>
          </a:p>
          <a:p>
            <a:pPr lvl="0"/>
            <a:r>
              <a:rPr lang="en-US" dirty="0" smtClean="0"/>
              <a:t>As this study is a descriptive one, it has not analyzed the problem in depth by testing on experimental bias.</a:t>
            </a:r>
            <a:endParaRPr lang="en-US" b="1" dirty="0" smtClean="0">
              <a:effectLst/>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5256601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71852" y="377371"/>
            <a:ext cx="10353761" cy="1325563"/>
          </a:xfrm>
        </p:spPr>
        <p:txBody>
          <a:bodyPr>
            <a:normAutofit/>
          </a:bodyPr>
          <a:lstStyle/>
          <a:p>
            <a:r>
              <a:rPr lang="en-US" sz="2800" dirty="0" smtClean="0">
                <a:solidFill>
                  <a:schemeClr val="accent2">
                    <a:lumMod val="75000"/>
                  </a:schemeClr>
                </a:solidFill>
                <a:latin typeface="Times New Roman" panose="02020603050405020304" pitchFamily="18" charset="0"/>
                <a:ea typeface="Times New Roman" panose="02020603050405020304" pitchFamily="18" charset="0"/>
              </a:rPr>
              <a:t>THE STUDY ON CUSTOMER SATISFICATION TOWARDS MOBILE USAGE IN VIRUDHUNAGAR</a:t>
            </a:r>
            <a:r>
              <a:rPr lang="en-US" sz="2800" dirty="0" smtClean="0">
                <a:latin typeface="Times New Roman" panose="02020603050405020304" pitchFamily="18" charset="0"/>
                <a:ea typeface="Times New Roman" panose="02020603050405020304" pitchFamily="18" charset="0"/>
              </a:rPr>
              <a:t/>
            </a:r>
            <a:br>
              <a:rPr lang="en-US" sz="2800" dirty="0" smtClean="0">
                <a:latin typeface="Times New Roman" panose="02020603050405020304" pitchFamily="18" charset="0"/>
                <a:ea typeface="Times New Roman" panose="02020603050405020304" pitchFamily="18" charset="0"/>
              </a:rPr>
            </a:br>
            <a:endParaRPr lang="en-IN" sz="2800" u="sng" dirty="0">
              <a:effectLst>
                <a:outerShdw blurRad="38100" dist="38100" dir="2700000" algn="tl">
                  <a:srgbClr val="000000">
                    <a:alpha val="43137"/>
                  </a:srgbClr>
                </a:outerShdw>
              </a:effectLst>
              <a:latin typeface="Times New Roman" panose="02020603050405020304" pitchFamily="18" charset="0"/>
              <a:cs typeface="Times New Roman" panose="02020603050405020304" pitchFamily="18" charset="0"/>
            </a:endParaRPr>
          </a:p>
        </p:txBody>
      </p:sp>
      <p:sp>
        <p:nvSpPr>
          <p:cNvPr id="5" name="Text Placeholder 4"/>
          <p:cNvSpPr>
            <a:spLocks noGrp="1"/>
          </p:cNvSpPr>
          <p:nvPr>
            <p:ph type="body" idx="1"/>
          </p:nvPr>
        </p:nvSpPr>
        <p:spPr>
          <a:xfrm>
            <a:off x="1780434" y="1857828"/>
            <a:ext cx="3415680" cy="633488"/>
          </a:xfrm>
        </p:spPr>
        <p:txBody>
          <a:bodyPr>
            <a:noAutofit/>
          </a:bodyPr>
          <a:lstStyle/>
          <a:p>
            <a:r>
              <a:rPr lang="en-IN"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PRIMARY  DATA</a:t>
            </a:r>
            <a:endParaRPr lang="en-US" spc="300" dirty="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endParaRPr>
          </a:p>
        </p:txBody>
      </p:sp>
      <p:sp>
        <p:nvSpPr>
          <p:cNvPr id="6" name="Content Placeholder 5"/>
          <p:cNvSpPr>
            <a:spLocks noGrp="1"/>
          </p:cNvSpPr>
          <p:nvPr>
            <p:ph sz="half" idx="2"/>
          </p:nvPr>
        </p:nvSpPr>
        <p:spPr>
          <a:xfrm>
            <a:off x="913795" y="2912232"/>
            <a:ext cx="5124148" cy="3270854"/>
          </a:xfrm>
        </p:spPr>
        <p:txBody>
          <a:bodyPr>
            <a:normAutofit fontScale="70000" lnSpcReduction="20000"/>
          </a:bodyPr>
          <a:lstStyle/>
          <a:p>
            <a:pPr algn="just"/>
            <a:r>
              <a:rPr lang="en-US" sz="2300" dirty="0" smtClean="0"/>
              <a:t>The present study is an empirical one based on survey method. First-hand data are collected from the fields through questionnaire and observation. A well-structured questionnaire has been prepared in consultation with the research guide. </a:t>
            </a:r>
          </a:p>
          <a:p>
            <a:pPr algn="just"/>
            <a:r>
              <a:rPr lang="en-US" sz="2300" dirty="0" smtClean="0"/>
              <a:t>The questionnaire has been used for collecting the required data for the Mobile Usage. Data relating to the customer satisfaction towards Mobile Usage in </a:t>
            </a:r>
            <a:r>
              <a:rPr lang="en-US" sz="2300" dirty="0" err="1" smtClean="0"/>
              <a:t>Virudhunagar</a:t>
            </a:r>
            <a:r>
              <a:rPr lang="en-US" sz="2300" dirty="0" smtClean="0"/>
              <a:t> are gathered through questionnaire.</a:t>
            </a:r>
          </a:p>
          <a:p>
            <a:endParaRPr lang="en-US" dirty="0"/>
          </a:p>
        </p:txBody>
      </p:sp>
      <p:sp>
        <p:nvSpPr>
          <p:cNvPr id="7" name="Text Placeholder 6"/>
          <p:cNvSpPr>
            <a:spLocks noGrp="1"/>
          </p:cNvSpPr>
          <p:nvPr>
            <p:ph type="body" sz="quarter" idx="3"/>
          </p:nvPr>
        </p:nvSpPr>
        <p:spPr>
          <a:xfrm>
            <a:off x="7287373" y="1901370"/>
            <a:ext cx="3714455" cy="560918"/>
          </a:xfrm>
        </p:spPr>
        <p:txBody>
          <a:bodyPr>
            <a:noAutofit/>
          </a:bodyPr>
          <a:lstStyle/>
          <a:p>
            <a:r>
              <a:rPr lang="en-IN"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SECONDARY</a:t>
            </a:r>
            <a:r>
              <a:rPr lang="en-IN" dirty="0" smtClean="0"/>
              <a:t>  </a:t>
            </a:r>
            <a:r>
              <a:rPr lang="en-IN" spc="300" dirty="0" smtClean="0">
                <a:ln w="11430" cmpd="sng">
                  <a:solidFill>
                    <a:schemeClr val="accent1">
                      <a:tint val="10000"/>
                    </a:schemeClr>
                  </a:solidFill>
                  <a:prstDash val="solid"/>
                  <a:miter lim="800000"/>
                </a:ln>
                <a:gradFill>
                  <a:gsLst>
                    <a:gs pos="10000">
                      <a:schemeClr val="accent1">
                        <a:tint val="83000"/>
                        <a:shade val="100000"/>
                        <a:satMod val="200000"/>
                      </a:schemeClr>
                    </a:gs>
                    <a:gs pos="75000">
                      <a:schemeClr val="accent1">
                        <a:tint val="100000"/>
                        <a:shade val="50000"/>
                        <a:satMod val="150000"/>
                      </a:schemeClr>
                    </a:gs>
                  </a:gsLst>
                  <a:lin ang="5400000"/>
                </a:gradFill>
                <a:effectLst>
                  <a:glow rad="45500">
                    <a:schemeClr val="accent1">
                      <a:satMod val="220000"/>
                      <a:alpha val="35000"/>
                    </a:schemeClr>
                  </a:glow>
                </a:effectLst>
              </a:rPr>
              <a:t>DATA</a:t>
            </a:r>
            <a:endParaRPr lang="en-US" dirty="0"/>
          </a:p>
        </p:txBody>
      </p:sp>
      <p:sp>
        <p:nvSpPr>
          <p:cNvPr id="8" name="Content Placeholder 7"/>
          <p:cNvSpPr>
            <a:spLocks noGrp="1"/>
          </p:cNvSpPr>
          <p:nvPr>
            <p:ph sz="quarter" idx="4"/>
          </p:nvPr>
        </p:nvSpPr>
        <p:spPr/>
        <p:txBody>
          <a:bodyPr/>
          <a:lstStyle/>
          <a:p>
            <a:pPr algn="just"/>
            <a:r>
              <a:rPr lang="en-US" dirty="0" smtClean="0"/>
              <a:t>Secondary data are also collected for this study. Apart from the primary data, the secondary data for the present study was collected from standard text books of related topics, leading journals, published documents and sources from internet.</a:t>
            </a:r>
          </a:p>
          <a:p>
            <a:endParaRPr lang="en-US" dirty="0"/>
          </a:p>
        </p:txBody>
      </p:sp>
    </p:spTree>
    <p:extLst>
      <p:ext uri="{BB962C8B-B14F-4D97-AF65-F5344CB8AC3E}">
        <p14:creationId xmlns="" xmlns:p14="http://schemas.microsoft.com/office/powerpoint/2010/main" val="2667317393"/>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7764" y="467178"/>
            <a:ext cx="11185071" cy="1326321"/>
          </a:xfrm>
        </p:spPr>
        <p:txBody>
          <a:bodyPr>
            <a:normAutofit/>
          </a:bodyPr>
          <a:lstStyle/>
          <a:p>
            <a:r>
              <a:rPr lang="en-IN" sz="2800" u="sng" dirty="0" smtClean="0">
                <a:latin typeface="Times New Roman" panose="02020603050405020304" pitchFamily="18" charset="0"/>
                <a:cs typeface="Times New Roman" panose="02020603050405020304" pitchFamily="18" charset="0"/>
              </a:rPr>
              <a:t>List of  MOBILE brands are used in OUR project</a:t>
            </a:r>
            <a:endParaRPr lang="en-IN" sz="2800" u="sng" dirty="0">
              <a:latin typeface="Times New Roman" panose="02020603050405020304" pitchFamily="18" charset="0"/>
              <a:cs typeface="Times New Roman" panose="02020603050405020304" pitchFamily="18" charset="0"/>
            </a:endParaRPr>
          </a:p>
        </p:txBody>
      </p:sp>
      <p:pic>
        <p:nvPicPr>
          <p:cNvPr id="17" name="image1.jpeg"/>
          <p:cNvPicPr>
            <a:picLocks noGrp="1"/>
          </p:cNvPicPr>
          <p:nvPr>
            <p:ph idx="1"/>
          </p:nvPr>
        </p:nvPicPr>
        <p:blipFill>
          <a:blip r:embed="rId2" cstate="print"/>
          <a:stretch>
            <a:fillRect/>
          </a:stretch>
        </p:blipFill>
        <p:spPr>
          <a:xfrm>
            <a:off x="1349828" y="2293258"/>
            <a:ext cx="1930401" cy="1206726"/>
          </a:xfrm>
          <a:prstGeom prst="rect">
            <a:avLst/>
          </a:prstGeom>
        </p:spPr>
      </p:pic>
      <p:pic>
        <p:nvPicPr>
          <p:cNvPr id="19" name="image2.jpeg" descr="Firsthurdle.in - Samsung company profile and placement papers with  solutions , Aptitude test paper and technical test interview questions with  solutions."/>
          <p:cNvPicPr/>
          <p:nvPr/>
        </p:nvPicPr>
        <p:blipFill>
          <a:blip r:embed="rId3" cstate="print"/>
          <a:stretch>
            <a:fillRect/>
          </a:stretch>
        </p:blipFill>
        <p:spPr>
          <a:xfrm>
            <a:off x="3947886" y="2336800"/>
            <a:ext cx="1658483" cy="1149351"/>
          </a:xfrm>
          <a:prstGeom prst="rect">
            <a:avLst/>
          </a:prstGeom>
        </p:spPr>
      </p:pic>
      <p:pic>
        <p:nvPicPr>
          <p:cNvPr id="20" name="image3.png"/>
          <p:cNvPicPr/>
          <p:nvPr/>
        </p:nvPicPr>
        <p:blipFill>
          <a:blip r:embed="rId4" cstate="print"/>
          <a:stretch>
            <a:fillRect/>
          </a:stretch>
        </p:blipFill>
        <p:spPr>
          <a:xfrm>
            <a:off x="6462033" y="2355850"/>
            <a:ext cx="1724024" cy="1113064"/>
          </a:xfrm>
          <a:prstGeom prst="rect">
            <a:avLst/>
          </a:prstGeom>
        </p:spPr>
      </p:pic>
      <p:pic>
        <p:nvPicPr>
          <p:cNvPr id="21" name="image4.jpeg" descr="OnePlus Company"/>
          <p:cNvPicPr/>
          <p:nvPr/>
        </p:nvPicPr>
        <p:blipFill>
          <a:blip r:embed="rId5" cstate="print"/>
          <a:stretch>
            <a:fillRect/>
          </a:stretch>
        </p:blipFill>
        <p:spPr>
          <a:xfrm>
            <a:off x="9027886" y="2336799"/>
            <a:ext cx="1814285" cy="1103087"/>
          </a:xfrm>
          <a:prstGeom prst="rect">
            <a:avLst/>
          </a:prstGeom>
        </p:spPr>
      </p:pic>
      <p:pic>
        <p:nvPicPr>
          <p:cNvPr id="22" name="image5.jpeg"/>
          <p:cNvPicPr/>
          <p:nvPr/>
        </p:nvPicPr>
        <p:blipFill>
          <a:blip r:embed="rId6" cstate="print"/>
          <a:stretch>
            <a:fillRect/>
          </a:stretch>
        </p:blipFill>
        <p:spPr>
          <a:xfrm>
            <a:off x="2322286" y="4542972"/>
            <a:ext cx="1785257" cy="1175656"/>
          </a:xfrm>
          <a:prstGeom prst="rect">
            <a:avLst/>
          </a:prstGeom>
        </p:spPr>
      </p:pic>
      <p:pic>
        <p:nvPicPr>
          <p:cNvPr id="23" name="image6.jpeg"/>
          <p:cNvPicPr/>
          <p:nvPr/>
        </p:nvPicPr>
        <p:blipFill>
          <a:blip r:embed="rId7" cstate="print"/>
          <a:stretch>
            <a:fillRect/>
          </a:stretch>
        </p:blipFill>
        <p:spPr>
          <a:xfrm>
            <a:off x="5210628" y="4615543"/>
            <a:ext cx="1741715" cy="1146628"/>
          </a:xfrm>
          <a:prstGeom prst="rect">
            <a:avLst/>
          </a:prstGeom>
        </p:spPr>
      </p:pic>
      <p:pic>
        <p:nvPicPr>
          <p:cNvPr id="24" name="image7.png"/>
          <p:cNvPicPr/>
          <p:nvPr/>
        </p:nvPicPr>
        <p:blipFill>
          <a:blip r:embed="rId8" cstate="print"/>
          <a:stretch>
            <a:fillRect/>
          </a:stretch>
        </p:blipFill>
        <p:spPr>
          <a:xfrm>
            <a:off x="7881257" y="4644572"/>
            <a:ext cx="1785258" cy="1103085"/>
          </a:xfrm>
          <a:prstGeom prst="rect">
            <a:avLst/>
          </a:prstGeom>
        </p:spPr>
      </p:pic>
      <p:sp>
        <p:nvSpPr>
          <p:cNvPr id="25" name="TextBox 24"/>
          <p:cNvSpPr txBox="1"/>
          <p:nvPr/>
        </p:nvSpPr>
        <p:spPr>
          <a:xfrm>
            <a:off x="1741714" y="3701144"/>
            <a:ext cx="1106393"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I PHONE</a:t>
            </a:r>
            <a:endParaRPr lang="en-US" dirty="0"/>
          </a:p>
        </p:txBody>
      </p:sp>
      <p:sp>
        <p:nvSpPr>
          <p:cNvPr id="26" name="TextBox 25"/>
          <p:cNvSpPr txBox="1"/>
          <p:nvPr/>
        </p:nvSpPr>
        <p:spPr>
          <a:xfrm>
            <a:off x="4107543" y="3715657"/>
            <a:ext cx="1298753"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SAMSUNG</a:t>
            </a:r>
            <a:endParaRPr lang="en-US" dirty="0"/>
          </a:p>
        </p:txBody>
      </p:sp>
      <p:sp>
        <p:nvSpPr>
          <p:cNvPr id="27" name="TextBox 26"/>
          <p:cNvSpPr txBox="1"/>
          <p:nvPr/>
        </p:nvSpPr>
        <p:spPr>
          <a:xfrm>
            <a:off x="6807200" y="3715658"/>
            <a:ext cx="910827"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REDMI</a:t>
            </a:r>
            <a:endParaRPr lang="en-US" dirty="0"/>
          </a:p>
        </p:txBody>
      </p:sp>
      <p:sp>
        <p:nvSpPr>
          <p:cNvPr id="28" name="TextBox 27"/>
          <p:cNvSpPr txBox="1"/>
          <p:nvPr/>
        </p:nvSpPr>
        <p:spPr>
          <a:xfrm>
            <a:off x="9448800" y="3715656"/>
            <a:ext cx="1210588"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ONEPLUS</a:t>
            </a:r>
            <a:endParaRPr lang="en-US" dirty="0"/>
          </a:p>
        </p:txBody>
      </p:sp>
      <p:sp>
        <p:nvSpPr>
          <p:cNvPr id="29" name="TextBox 28"/>
          <p:cNvSpPr txBox="1"/>
          <p:nvPr/>
        </p:nvSpPr>
        <p:spPr>
          <a:xfrm>
            <a:off x="2801257" y="6037942"/>
            <a:ext cx="756682"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VIVO</a:t>
            </a:r>
            <a:endParaRPr lang="en-US" dirty="0"/>
          </a:p>
        </p:txBody>
      </p:sp>
      <p:sp>
        <p:nvSpPr>
          <p:cNvPr id="30" name="TextBox 29"/>
          <p:cNvSpPr txBox="1"/>
          <p:nvPr/>
        </p:nvSpPr>
        <p:spPr>
          <a:xfrm>
            <a:off x="5631543" y="6081485"/>
            <a:ext cx="819455"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OPPO</a:t>
            </a:r>
            <a:endParaRPr lang="en-US" dirty="0">
              <a:ln w="18415" cmpd="sng">
                <a:solidFill>
                  <a:srgbClr val="FFFFFF"/>
                </a:solidFill>
                <a:prstDash val="solid"/>
              </a:ln>
              <a:solidFill>
                <a:srgbClr val="FFFFFF"/>
              </a:solidFill>
              <a:effectLst>
                <a:outerShdw blurRad="63500" dir="3600000" algn="tl" rotWithShape="0">
                  <a:srgbClr val="000000">
                    <a:alpha val="70000"/>
                  </a:srgbClr>
                </a:outerShdw>
              </a:effectLst>
            </a:endParaRPr>
          </a:p>
        </p:txBody>
      </p:sp>
      <p:sp>
        <p:nvSpPr>
          <p:cNvPr id="31" name="TextBox 30"/>
          <p:cNvSpPr txBox="1"/>
          <p:nvPr/>
        </p:nvSpPr>
        <p:spPr>
          <a:xfrm>
            <a:off x="8229601" y="6081486"/>
            <a:ext cx="1096775" cy="369332"/>
          </a:xfrm>
          <a:prstGeom prst="rect">
            <a:avLst/>
          </a:prstGeom>
          <a:noFill/>
        </p:spPr>
        <p:txBody>
          <a:bodyPr wrap="none" rtlCol="0">
            <a:spAutoFit/>
          </a:bodyPr>
          <a:lstStyle/>
          <a:p>
            <a:r>
              <a:rPr lang="en-IN"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REALME</a:t>
            </a:r>
            <a:endParaRPr lang="en-US" dirty="0"/>
          </a:p>
        </p:txBody>
      </p:sp>
    </p:spTree>
    <p:extLst>
      <p:ext uri="{BB962C8B-B14F-4D97-AF65-F5344CB8AC3E}">
        <p14:creationId xmlns="" xmlns:p14="http://schemas.microsoft.com/office/powerpoint/2010/main" val="3050594336"/>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Snip Same Side Corner Rectangle 22"/>
          <p:cNvSpPr/>
          <p:nvPr/>
        </p:nvSpPr>
        <p:spPr>
          <a:xfrm>
            <a:off x="372892" y="1346277"/>
            <a:ext cx="11819108" cy="4192622"/>
          </a:xfrm>
          <a:prstGeom prst="snip2SameRect">
            <a:avLst/>
          </a:prstGeom>
          <a:gradFill>
            <a:gsLst>
              <a:gs pos="0">
                <a:schemeClr val="dk1">
                  <a:tint val="94000"/>
                  <a:satMod val="100000"/>
                  <a:lumMod val="104000"/>
                </a:schemeClr>
              </a:gs>
              <a:gs pos="69000">
                <a:schemeClr val="dk1">
                  <a:shade val="86000"/>
                  <a:satMod val="130000"/>
                  <a:lumMod val="102000"/>
                </a:schemeClr>
              </a:gs>
              <a:gs pos="100000">
                <a:schemeClr val="dk1">
                  <a:shade val="72000"/>
                  <a:satMod val="130000"/>
                  <a:lumMod val="100000"/>
                </a:schemeClr>
              </a:gs>
            </a:gsLst>
            <a:lin ang="540000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solidFill>
                <a:schemeClr val="tx1">
                  <a:lumMod val="75000"/>
                </a:schemeClr>
              </a:solidFill>
            </a:endParaRPr>
          </a:p>
        </p:txBody>
      </p:sp>
      <p:sp>
        <p:nvSpPr>
          <p:cNvPr id="2" name="Title 1"/>
          <p:cNvSpPr>
            <a:spLocks noGrp="1"/>
          </p:cNvSpPr>
          <p:nvPr>
            <p:ph type="title"/>
          </p:nvPr>
        </p:nvSpPr>
        <p:spPr>
          <a:xfrm>
            <a:off x="923680" y="0"/>
            <a:ext cx="10353761" cy="1326321"/>
          </a:xfrm>
        </p:spPr>
        <p:txBody>
          <a:bodyPr>
            <a:normAutofit/>
          </a:bodyPr>
          <a:lstStyle/>
          <a:p>
            <a:r>
              <a:rPr lang="en-US" sz="2400" u="sng" dirty="0" smtClean="0">
                <a:latin typeface="Times New Roman" panose="02020603050405020304" pitchFamily="18" charset="0"/>
                <a:cs typeface="Times New Roman" panose="02020603050405020304" pitchFamily="18" charset="0"/>
              </a:rPr>
              <a:t>Analysis</a:t>
            </a:r>
            <a:br>
              <a:rPr lang="en-US" sz="2400" u="sng" dirty="0" smtClean="0">
                <a:latin typeface="Times New Roman" panose="02020603050405020304" pitchFamily="18" charset="0"/>
                <a:cs typeface="Times New Roman" panose="02020603050405020304" pitchFamily="18" charset="0"/>
              </a:rPr>
            </a:br>
            <a:r>
              <a:rPr lang="en-US" sz="2400" u="sng" dirty="0">
                <a:latin typeface="Times New Roman" panose="02020603050405020304" pitchFamily="18" charset="0"/>
                <a:cs typeface="Times New Roman" panose="02020603050405020304" pitchFamily="18" charset="0"/>
              </a:rPr>
              <a:t/>
            </a:r>
            <a:br>
              <a:rPr lang="en-US" sz="2400" u="sng" dirty="0">
                <a:latin typeface="Times New Roman" panose="02020603050405020304" pitchFamily="18" charset="0"/>
                <a:cs typeface="Times New Roman" panose="02020603050405020304" pitchFamily="18" charset="0"/>
              </a:rPr>
            </a:br>
            <a:r>
              <a:rPr lang="en-US" sz="2400" u="sng" dirty="0" smtClean="0">
                <a:latin typeface="Times New Roman" panose="02020603050405020304" pitchFamily="18" charset="0"/>
                <a:cs typeface="Times New Roman" panose="02020603050405020304" pitchFamily="18" charset="0"/>
              </a:rPr>
              <a:t>AGE of the respondents</a:t>
            </a:r>
            <a:endParaRPr lang="en-IN" sz="2400" u="sng" dirty="0">
              <a:latin typeface="Times New Roman" panose="02020603050405020304" pitchFamily="18" charset="0"/>
              <a:cs typeface="Times New Roman" panose="02020603050405020304" pitchFamily="18" charset="0"/>
            </a:endParaRPr>
          </a:p>
        </p:txBody>
      </p:sp>
      <p:graphicFrame>
        <p:nvGraphicFramePr>
          <p:cNvPr id="4" name="Content Placeholder 3"/>
          <p:cNvGraphicFramePr>
            <a:graphicFrameLocks noGrp="1"/>
          </p:cNvGraphicFramePr>
          <p:nvPr>
            <p:ph idx="1"/>
            <p:extLst>
              <p:ext uri="{D42A27DB-BD31-4B8C-83A1-F6EECF244321}">
                <p14:modId xmlns="" xmlns:p14="http://schemas.microsoft.com/office/powerpoint/2010/main" val="1471512413"/>
              </p:ext>
            </p:extLst>
          </p:nvPr>
        </p:nvGraphicFramePr>
        <p:xfrm>
          <a:off x="694637" y="1832990"/>
          <a:ext cx="6022430" cy="2749819"/>
        </p:xfrm>
        <a:graphic>
          <a:graphicData uri="http://schemas.openxmlformats.org/drawingml/2006/table">
            <a:tbl>
              <a:tblPr firstRow="1" firstCol="1" lastRow="1" lastCol="1" bandRow="1" bandCol="1">
                <a:tableStyleId>{D03447BB-5D67-496B-8E87-E561075AD55C}</a:tableStyleId>
              </a:tblPr>
              <a:tblGrid>
                <a:gridCol w="1506442"/>
                <a:gridCol w="1506442"/>
                <a:gridCol w="1503104"/>
                <a:gridCol w="1506442"/>
              </a:tblGrid>
              <a:tr h="573039">
                <a:tc>
                  <a:txBody>
                    <a:bodyPr/>
                    <a:lstStyle/>
                    <a:p>
                      <a:pPr algn="l">
                        <a:spcBef>
                          <a:spcPts val="15"/>
                        </a:spcBef>
                        <a:spcAft>
                          <a:spcPts val="0"/>
                        </a:spcAft>
                      </a:pPr>
                      <a:r>
                        <a:rPr lang="en-US" sz="2100" dirty="0">
                          <a:effectLst/>
                        </a:rPr>
                        <a:t> </a:t>
                      </a:r>
                      <a:endParaRPr lang="en-IN" sz="1100" dirty="0">
                        <a:effectLst/>
                      </a:endParaRPr>
                    </a:p>
                    <a:p>
                      <a:pPr marL="488950" algn="l">
                        <a:spcBef>
                          <a:spcPts val="15"/>
                        </a:spcBef>
                        <a:spcAft>
                          <a:spcPts val="0"/>
                        </a:spcAft>
                      </a:pPr>
                      <a:r>
                        <a:rPr lang="en-US" sz="1400" dirty="0">
                          <a:effectLst/>
                        </a:rPr>
                        <a:t>S.</a:t>
                      </a:r>
                      <a:r>
                        <a:rPr lang="en-US" sz="1400" spc="-10" dirty="0">
                          <a:effectLst/>
                        </a:rPr>
                        <a:t> </a:t>
                      </a:r>
                      <a:r>
                        <a:rPr lang="en-US" sz="1400" dirty="0" smtClean="0">
                          <a:effectLst/>
                        </a:rPr>
                        <a:t>NO</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2100" dirty="0">
                          <a:effectLst/>
                        </a:rPr>
                        <a:t> </a:t>
                      </a:r>
                      <a:endParaRPr lang="en-IN" sz="1100" dirty="0">
                        <a:effectLst/>
                      </a:endParaRPr>
                    </a:p>
                    <a:p>
                      <a:pPr marL="55880" marR="55245" algn="ctr">
                        <a:spcBef>
                          <a:spcPts val="15"/>
                        </a:spcBef>
                        <a:spcAft>
                          <a:spcPts val="0"/>
                        </a:spcAft>
                      </a:pPr>
                      <a:r>
                        <a:rPr lang="en-US" sz="1400" dirty="0">
                          <a:effectLst/>
                        </a:rPr>
                        <a:t>AGE</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US" sz="1400" dirty="0">
                          <a:effectLst/>
                        </a:rPr>
                        <a:t>NO OF</a:t>
                      </a:r>
                      <a:endParaRPr lang="en-IN" sz="1100" dirty="0">
                        <a:effectLst/>
                      </a:endParaRPr>
                    </a:p>
                    <a:p>
                      <a:pPr marL="52705" marR="52705" algn="ctr">
                        <a:spcBef>
                          <a:spcPts val="790"/>
                        </a:spcBef>
                        <a:spcAft>
                          <a:spcPts val="0"/>
                        </a:spcAft>
                      </a:pPr>
                      <a:r>
                        <a:rPr lang="en-US" sz="1400" dirty="0">
                          <a:effectLst/>
                        </a:rPr>
                        <a:t>RESPONDENTS</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2100" dirty="0">
                          <a:effectLst/>
                        </a:rPr>
                        <a:t> </a:t>
                      </a:r>
                      <a:endParaRPr lang="en-IN" sz="1100" dirty="0">
                        <a:effectLst/>
                      </a:endParaRPr>
                    </a:p>
                    <a:p>
                      <a:pPr marL="40005" marR="92075" algn="ctr">
                        <a:spcBef>
                          <a:spcPts val="15"/>
                        </a:spcBef>
                        <a:spcAft>
                          <a:spcPts val="0"/>
                        </a:spcAft>
                      </a:pPr>
                      <a:r>
                        <a:rPr lang="en-US" sz="1400" dirty="0">
                          <a:effectLst/>
                        </a:rPr>
                        <a:t>PERCENTAGE</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15"/>
                        </a:spcBef>
                        <a:spcAft>
                          <a:spcPts val="0"/>
                        </a:spcAft>
                      </a:pPr>
                      <a:r>
                        <a:rPr lang="en-US" sz="1400" dirty="0">
                          <a:effectLst/>
                        </a:rPr>
                        <a:t>1</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US" sz="1400" dirty="0">
                          <a:effectLst/>
                        </a:rPr>
                        <a:t>BELOW</a:t>
                      </a:r>
                      <a:r>
                        <a:rPr lang="en-US" sz="1400" spc="-20" dirty="0">
                          <a:effectLst/>
                        </a:rPr>
                        <a:t> </a:t>
                      </a:r>
                      <a:r>
                        <a:rPr lang="en-US" sz="1400" spc="-20" dirty="0" smtClean="0">
                          <a:effectLst/>
                        </a:rPr>
                        <a:t>20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13</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26</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5"/>
                        </a:spcBef>
                        <a:spcAft>
                          <a:spcPts val="0"/>
                        </a:spcAft>
                      </a:pPr>
                      <a:r>
                        <a:rPr lang="en-US" sz="1400">
                          <a:effectLst/>
                        </a:rPr>
                        <a:t>2</a:t>
                      </a:r>
                      <a:endParaRPr lang="en-IN" sz="11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BETWEEN</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20-35</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40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6400">
                <a:tc>
                  <a:txBody>
                    <a:bodyPr/>
                    <a:lstStyle/>
                    <a:p>
                      <a:pPr marL="9525" algn="ctr">
                        <a:spcBef>
                          <a:spcPts val="15"/>
                        </a:spcBef>
                        <a:spcAft>
                          <a:spcPts val="0"/>
                        </a:spcAft>
                      </a:pPr>
                      <a:r>
                        <a:rPr lang="en-US" sz="1400">
                          <a:effectLst/>
                        </a:rPr>
                        <a:t>3</a:t>
                      </a:r>
                      <a:endParaRPr lang="en-IN" sz="11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BETWEEN</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35-45</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17</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34</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US" sz="1400">
                          <a:effectLst/>
                        </a:rPr>
                        <a:t>4</a:t>
                      </a:r>
                      <a:endParaRPr lang="en-IN" sz="11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US" sz="1400" dirty="0">
                          <a:effectLst/>
                        </a:rPr>
                        <a:t>ABOVE</a:t>
                      </a:r>
                      <a:r>
                        <a:rPr lang="en-US" sz="1400" spc="-25" dirty="0">
                          <a:effectLst/>
                        </a:rPr>
                        <a:t> </a:t>
                      </a:r>
                      <a:r>
                        <a:rPr lang="en-US" sz="1400" spc="-25" dirty="0" smtClean="0">
                          <a:effectLst/>
                        </a:rPr>
                        <a:t>45</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a:effectLst/>
                          <a:latin typeface="Times New Roman" panose="02020603050405020304" pitchFamily="18" charset="0"/>
                          <a:ea typeface="Times New Roman" panose="02020603050405020304" pitchFamily="18" charset="0"/>
                          <a:cs typeface="Latha" panose="020B0604020202020204" pitchFamily="34" charset="0"/>
                        </a:rPr>
                        <a:t>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612140">
                <a:tc gridSpan="2">
                  <a:txBody>
                    <a:bodyPr/>
                    <a:lstStyle/>
                    <a:p>
                      <a:pPr algn="l">
                        <a:spcBef>
                          <a:spcPts val="15"/>
                        </a:spcBef>
                        <a:spcAft>
                          <a:spcPts val="0"/>
                        </a:spcAft>
                      </a:pPr>
                      <a:r>
                        <a:rPr lang="en-US" sz="2100" dirty="0">
                          <a:effectLst/>
                        </a:rPr>
                        <a:t> </a:t>
                      </a:r>
                      <a:endParaRPr lang="en-IN" sz="1100" dirty="0">
                        <a:effectLst/>
                      </a:endParaRPr>
                    </a:p>
                    <a:p>
                      <a:pPr marL="1106805" marR="1102995" algn="ctr">
                        <a:spcBef>
                          <a:spcPts val="5"/>
                        </a:spcBef>
                        <a:spcAft>
                          <a:spcPts val="0"/>
                        </a:spcAft>
                      </a:pPr>
                      <a:r>
                        <a:rPr lang="en-US" sz="1400" dirty="0">
                          <a:effectLst/>
                        </a:rPr>
                        <a:t>TOTAL</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hMerge="1">
                  <a:txBody>
                    <a:bodyPr/>
                    <a:lstStyle/>
                    <a:p>
                      <a:endParaRPr lang="en-IN"/>
                    </a:p>
                  </a:txBody>
                  <a:tcPr/>
                </a:tc>
                <a:tc>
                  <a:txBody>
                    <a:bodyPr/>
                    <a:lstStyle/>
                    <a:p>
                      <a:pPr algn="l">
                        <a:spcBef>
                          <a:spcPts val="15"/>
                        </a:spcBef>
                        <a:spcAft>
                          <a:spcPts val="0"/>
                        </a:spcAft>
                      </a:pPr>
                      <a:r>
                        <a:rPr lang="en-US" sz="2100">
                          <a:effectLst/>
                        </a:rPr>
                        <a:t> </a:t>
                      </a:r>
                      <a:endParaRPr lang="en-IN" sz="1100">
                        <a:effectLst/>
                      </a:endParaRPr>
                    </a:p>
                    <a:p>
                      <a:pPr marL="52705" marR="46355" algn="ctr">
                        <a:spcBef>
                          <a:spcPts val="5"/>
                        </a:spcBef>
                        <a:spcAft>
                          <a:spcPts val="0"/>
                        </a:spcAft>
                      </a:pPr>
                      <a:r>
                        <a:rPr lang="en-US" sz="1400">
                          <a:effectLst/>
                        </a:rPr>
                        <a:t>50</a:t>
                      </a:r>
                      <a:endParaRPr lang="en-IN" sz="11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2100" dirty="0">
                          <a:effectLst/>
                        </a:rPr>
                        <a:t> </a:t>
                      </a:r>
                      <a:endParaRPr lang="en-IN" sz="1100" dirty="0">
                        <a:effectLst/>
                      </a:endParaRPr>
                    </a:p>
                    <a:p>
                      <a:pPr marL="55880" marR="46355" algn="ctr">
                        <a:spcBef>
                          <a:spcPts val="5"/>
                        </a:spcBef>
                        <a:spcAft>
                          <a:spcPts val="0"/>
                        </a:spcAft>
                      </a:pPr>
                      <a:r>
                        <a:rPr lang="en-US" sz="1400" dirty="0">
                          <a:effectLst/>
                        </a:rPr>
                        <a:t>100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bl>
          </a:graphicData>
        </a:graphic>
      </p:graphicFrame>
      <p:graphicFrame>
        <p:nvGraphicFramePr>
          <p:cNvPr id="19" name="Chart 18"/>
          <p:cNvGraphicFramePr/>
          <p:nvPr>
            <p:extLst>
              <p:ext uri="{D42A27DB-BD31-4B8C-83A1-F6EECF244321}">
                <p14:modId xmlns="" xmlns:p14="http://schemas.microsoft.com/office/powerpoint/2010/main" val="2794565904"/>
              </p:ext>
            </p:extLst>
          </p:nvPr>
        </p:nvGraphicFramePr>
        <p:xfrm>
          <a:off x="6791759" y="1451429"/>
          <a:ext cx="5400241" cy="4157082"/>
        </p:xfrm>
        <a:graphic>
          <a:graphicData uri="http://schemas.openxmlformats.org/drawingml/2006/chart">
            <c:chart xmlns:c="http://schemas.openxmlformats.org/drawingml/2006/chart" xmlns:r="http://schemas.openxmlformats.org/officeDocument/2006/relationships" r:id="rId2"/>
          </a:graphicData>
        </a:graphic>
      </p:graphicFrame>
      <p:pic>
        <p:nvPicPr>
          <p:cNvPr id="7" name="image3.jpeg" descr="IMG-20240321-WA0049.jpg"/>
          <p:cNvPicPr/>
          <p:nvPr/>
        </p:nvPicPr>
        <p:blipFill>
          <a:blip r:embed="rId3" cstate="print"/>
          <a:stretch>
            <a:fillRect/>
          </a:stretch>
        </p:blipFill>
        <p:spPr>
          <a:xfrm>
            <a:off x="7358742" y="1770742"/>
            <a:ext cx="4238172" cy="3556000"/>
          </a:xfrm>
          <a:prstGeom prst="rect">
            <a:avLst/>
          </a:prstGeom>
        </p:spPr>
      </p:pic>
      <p:sp>
        <p:nvSpPr>
          <p:cNvPr id="8" name="Rectangle 7"/>
          <p:cNvSpPr/>
          <p:nvPr/>
        </p:nvSpPr>
        <p:spPr>
          <a:xfrm>
            <a:off x="1058134" y="5508556"/>
            <a:ext cx="2222094" cy="461665"/>
          </a:xfrm>
          <a:prstGeom prst="rect">
            <a:avLst/>
          </a:prstGeom>
        </p:spPr>
        <p:txBody>
          <a:bodyPr wrap="square">
            <a:spAutoFit/>
          </a:bodyPr>
          <a:lstStyle/>
          <a:p>
            <a:r>
              <a:rPr lang="en-US" sz="2400"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INFERENCE</a:t>
            </a:r>
            <a:endParaRPr lang="en-US" sz="1600" dirty="0"/>
          </a:p>
        </p:txBody>
      </p:sp>
      <p:sp>
        <p:nvSpPr>
          <p:cNvPr id="9" name="Rectangle 8"/>
          <p:cNvSpPr/>
          <p:nvPr/>
        </p:nvSpPr>
        <p:spPr>
          <a:xfrm>
            <a:off x="1749031" y="6002044"/>
            <a:ext cx="5987082" cy="400110"/>
          </a:xfrm>
          <a:prstGeom prst="rect">
            <a:avLst/>
          </a:prstGeom>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Highest 40% of the respondents are between 20 – 35.</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958175330"/>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14735" y="1894390"/>
            <a:ext cx="10353761" cy="1326321"/>
          </a:xfrm>
        </p:spPr>
        <p:txBody>
          <a:bodyPr>
            <a:normAutofit/>
          </a:bodyPr>
          <a:lstStyle/>
          <a:p>
            <a:r>
              <a:rPr lang="en-US" sz="2800" dirty="0" smtClean="0">
                <a:latin typeface="Times New Roman" panose="02020603050405020304" pitchFamily="18" charset="0"/>
                <a:cs typeface="Times New Roman" panose="02020603050405020304" pitchFamily="18" charset="0"/>
              </a:rPr>
              <a:t>	</a:t>
            </a:r>
            <a:endParaRPr lang="en-IN" sz="2800" dirty="0">
              <a:latin typeface="Times New Roman" panose="02020603050405020304" pitchFamily="18" charset="0"/>
              <a:cs typeface="Times New Roman" panose="02020603050405020304" pitchFamily="18" charset="0"/>
            </a:endParaRPr>
          </a:p>
        </p:txBody>
      </p:sp>
      <p:graphicFrame>
        <p:nvGraphicFramePr>
          <p:cNvPr id="9" name="Content Placeholder 8"/>
          <p:cNvGraphicFramePr>
            <a:graphicFrameLocks noGrp="1"/>
          </p:cNvGraphicFramePr>
          <p:nvPr>
            <p:ph idx="1"/>
          </p:nvPr>
        </p:nvGraphicFramePr>
        <p:xfrm>
          <a:off x="261258" y="1378858"/>
          <a:ext cx="7082972" cy="4141240"/>
        </p:xfrm>
        <a:graphic>
          <a:graphicData uri="http://schemas.openxmlformats.org/drawingml/2006/table">
            <a:tbl>
              <a:tblPr firstRow="1" bandRow="1">
                <a:tableStyleId>{69CF1AB2-1976-4502-BF36-3FF5EA218861}</a:tableStyleId>
              </a:tblPr>
              <a:tblGrid>
                <a:gridCol w="1770743"/>
                <a:gridCol w="1770743"/>
                <a:gridCol w="1770743"/>
                <a:gridCol w="1770743"/>
              </a:tblGrid>
              <a:tr h="849400">
                <a:tc>
                  <a:txBody>
                    <a:bodyPr/>
                    <a:lstStyle/>
                    <a:p>
                      <a:pPr algn="ctr"/>
                      <a:endParaRPr lang="en-IN" sz="1600" dirty="0" smtClean="0"/>
                    </a:p>
                    <a:p>
                      <a:pPr algn="ctr"/>
                      <a:r>
                        <a:rPr lang="en-IN" sz="1600" dirty="0" smtClean="0"/>
                        <a:t>S.NO</a:t>
                      </a:r>
                      <a:endParaRPr lang="en-US" sz="1600" dirty="0"/>
                    </a:p>
                  </a:txBody>
                  <a:tcPr/>
                </a:tc>
                <a:tc>
                  <a:txBody>
                    <a:bodyPr/>
                    <a:lstStyle/>
                    <a:p>
                      <a:pPr algn="ctr"/>
                      <a:endParaRPr lang="en-IN" sz="1600" dirty="0" smtClean="0"/>
                    </a:p>
                    <a:p>
                      <a:pPr algn="ctr"/>
                      <a:r>
                        <a:rPr lang="en-IN" sz="1600" dirty="0" smtClean="0"/>
                        <a:t>PARTICULARS</a:t>
                      </a:r>
                      <a:endParaRPr lang="en-US" sz="1600" dirty="0"/>
                    </a:p>
                  </a:txBody>
                  <a:tcPr/>
                </a:tc>
                <a:tc>
                  <a:txBody>
                    <a:bodyPr/>
                    <a:lstStyle/>
                    <a:p>
                      <a:pPr algn="ctr"/>
                      <a:r>
                        <a:rPr lang="en-IN" sz="1600" dirty="0" smtClean="0"/>
                        <a:t>NO OF RESPONDENTS</a:t>
                      </a:r>
                      <a:endParaRPr lang="en-US" sz="1600" dirty="0"/>
                    </a:p>
                  </a:txBody>
                  <a:tcPr/>
                </a:tc>
                <a:tc>
                  <a:txBody>
                    <a:bodyPr/>
                    <a:lstStyle/>
                    <a:p>
                      <a:pPr algn="ctr"/>
                      <a:endParaRPr lang="en-IN" sz="1600" dirty="0" smtClean="0"/>
                    </a:p>
                    <a:p>
                      <a:pPr algn="ctr"/>
                      <a:r>
                        <a:rPr lang="en-IN" sz="1600" dirty="0" smtClean="0"/>
                        <a:t>PERCENTAGE</a:t>
                      </a:r>
                      <a:endParaRPr lang="en-US" sz="1600" dirty="0"/>
                    </a:p>
                  </a:txBody>
                  <a:tcPr/>
                </a:tc>
              </a:tr>
              <a:tr h="299121">
                <a:tc>
                  <a:txBody>
                    <a:bodyPr/>
                    <a:lstStyle/>
                    <a:p>
                      <a:pPr algn="ctr"/>
                      <a:r>
                        <a:rPr lang="en-IN" dirty="0" smtClean="0"/>
                        <a:t>1</a:t>
                      </a:r>
                      <a:endParaRPr lang="en-US" dirty="0"/>
                    </a:p>
                  </a:txBody>
                  <a:tcPr/>
                </a:tc>
                <a:tc>
                  <a:txBody>
                    <a:bodyPr/>
                    <a:lstStyle/>
                    <a:p>
                      <a:pPr algn="ctr"/>
                      <a:r>
                        <a:rPr lang="en-IN" dirty="0" smtClean="0"/>
                        <a:t>SAMSUNG</a:t>
                      </a:r>
                      <a:endParaRPr lang="en-US" dirty="0"/>
                    </a:p>
                  </a:txBody>
                  <a:tcPr/>
                </a:tc>
                <a:tc>
                  <a:txBody>
                    <a:bodyPr/>
                    <a:lstStyle/>
                    <a:p>
                      <a:pPr algn="ctr"/>
                      <a:r>
                        <a:rPr lang="en-IN" dirty="0" smtClean="0"/>
                        <a:t>4</a:t>
                      </a:r>
                      <a:endParaRPr lang="en-US" dirty="0"/>
                    </a:p>
                  </a:txBody>
                  <a:tcPr/>
                </a:tc>
                <a:tc>
                  <a:txBody>
                    <a:bodyPr/>
                    <a:lstStyle/>
                    <a:p>
                      <a:pPr algn="ctr"/>
                      <a:r>
                        <a:rPr lang="en-IN" dirty="0" smtClean="0"/>
                        <a:t>8</a:t>
                      </a:r>
                      <a:endParaRPr lang="en-US" dirty="0"/>
                    </a:p>
                  </a:txBody>
                  <a:tcPr/>
                </a:tc>
              </a:tr>
              <a:tr h="299121">
                <a:tc>
                  <a:txBody>
                    <a:bodyPr/>
                    <a:lstStyle/>
                    <a:p>
                      <a:pPr algn="ctr"/>
                      <a:r>
                        <a:rPr lang="en-IN" dirty="0" smtClean="0"/>
                        <a:t>2</a:t>
                      </a:r>
                      <a:endParaRPr lang="en-US" dirty="0"/>
                    </a:p>
                  </a:txBody>
                  <a:tcPr/>
                </a:tc>
                <a:tc>
                  <a:txBody>
                    <a:bodyPr/>
                    <a:lstStyle/>
                    <a:p>
                      <a:pPr algn="ctr"/>
                      <a:r>
                        <a:rPr lang="en-IN" dirty="0" smtClean="0"/>
                        <a:t>APPLE</a:t>
                      </a:r>
                      <a:endParaRPr lang="en-US" dirty="0"/>
                    </a:p>
                  </a:txBody>
                  <a:tcPr/>
                </a:tc>
                <a:tc>
                  <a:txBody>
                    <a:bodyPr/>
                    <a:lstStyle/>
                    <a:p>
                      <a:pPr algn="ctr"/>
                      <a:r>
                        <a:rPr lang="en-IN" dirty="0" smtClean="0"/>
                        <a:t>11</a:t>
                      </a:r>
                      <a:endParaRPr lang="en-US" dirty="0"/>
                    </a:p>
                  </a:txBody>
                  <a:tcPr/>
                </a:tc>
                <a:tc>
                  <a:txBody>
                    <a:bodyPr/>
                    <a:lstStyle/>
                    <a:p>
                      <a:pPr algn="ctr"/>
                      <a:r>
                        <a:rPr lang="en-IN" dirty="0" smtClean="0"/>
                        <a:t>22</a:t>
                      </a:r>
                      <a:endParaRPr lang="en-US" dirty="0"/>
                    </a:p>
                  </a:txBody>
                  <a:tcPr/>
                </a:tc>
              </a:tr>
              <a:tr h="299121">
                <a:tc>
                  <a:txBody>
                    <a:bodyPr/>
                    <a:lstStyle/>
                    <a:p>
                      <a:pPr algn="ctr"/>
                      <a:r>
                        <a:rPr lang="en-IN" dirty="0" smtClean="0"/>
                        <a:t>3</a:t>
                      </a:r>
                      <a:endParaRPr lang="en-US" dirty="0"/>
                    </a:p>
                  </a:txBody>
                  <a:tcPr/>
                </a:tc>
                <a:tc>
                  <a:txBody>
                    <a:bodyPr/>
                    <a:lstStyle/>
                    <a:p>
                      <a:pPr algn="ctr"/>
                      <a:r>
                        <a:rPr lang="en-IN" dirty="0" smtClean="0"/>
                        <a:t>REDMI</a:t>
                      </a:r>
                      <a:endParaRPr lang="en-US" dirty="0"/>
                    </a:p>
                  </a:txBody>
                  <a:tcPr/>
                </a:tc>
                <a:tc>
                  <a:txBody>
                    <a:bodyPr/>
                    <a:lstStyle/>
                    <a:p>
                      <a:pPr algn="ctr"/>
                      <a:r>
                        <a:rPr lang="en-IN" dirty="0" smtClean="0"/>
                        <a:t>8</a:t>
                      </a:r>
                      <a:endParaRPr lang="en-US" dirty="0"/>
                    </a:p>
                  </a:txBody>
                  <a:tcPr/>
                </a:tc>
                <a:tc>
                  <a:txBody>
                    <a:bodyPr/>
                    <a:lstStyle/>
                    <a:p>
                      <a:pPr algn="ctr"/>
                      <a:r>
                        <a:rPr lang="en-IN" dirty="0" smtClean="0"/>
                        <a:t>16</a:t>
                      </a:r>
                      <a:endParaRPr lang="en-US" dirty="0"/>
                    </a:p>
                  </a:txBody>
                  <a:tcPr/>
                </a:tc>
              </a:tr>
              <a:tr h="299121">
                <a:tc>
                  <a:txBody>
                    <a:bodyPr/>
                    <a:lstStyle/>
                    <a:p>
                      <a:pPr algn="ctr"/>
                      <a:r>
                        <a:rPr lang="en-IN" dirty="0" smtClean="0"/>
                        <a:t>4</a:t>
                      </a:r>
                      <a:endParaRPr lang="en-US" dirty="0"/>
                    </a:p>
                  </a:txBody>
                  <a:tcPr/>
                </a:tc>
                <a:tc>
                  <a:txBody>
                    <a:bodyPr/>
                    <a:lstStyle/>
                    <a:p>
                      <a:pPr algn="ctr"/>
                      <a:r>
                        <a:rPr lang="en-IN" dirty="0" smtClean="0"/>
                        <a:t>VIVO</a:t>
                      </a:r>
                      <a:endParaRPr lang="en-US" dirty="0"/>
                    </a:p>
                  </a:txBody>
                  <a:tcPr/>
                </a:tc>
                <a:tc>
                  <a:txBody>
                    <a:bodyPr/>
                    <a:lstStyle/>
                    <a:p>
                      <a:pPr algn="ctr"/>
                      <a:r>
                        <a:rPr lang="en-IN" dirty="0" smtClean="0"/>
                        <a:t>7</a:t>
                      </a:r>
                      <a:endParaRPr lang="en-US" dirty="0"/>
                    </a:p>
                  </a:txBody>
                  <a:tcPr/>
                </a:tc>
                <a:tc>
                  <a:txBody>
                    <a:bodyPr/>
                    <a:lstStyle/>
                    <a:p>
                      <a:pPr algn="ctr"/>
                      <a:r>
                        <a:rPr lang="en-IN" dirty="0" smtClean="0"/>
                        <a:t>14</a:t>
                      </a:r>
                      <a:endParaRPr lang="en-US" dirty="0"/>
                    </a:p>
                  </a:txBody>
                  <a:tcPr/>
                </a:tc>
              </a:tr>
              <a:tr h="299121">
                <a:tc>
                  <a:txBody>
                    <a:bodyPr/>
                    <a:lstStyle/>
                    <a:p>
                      <a:pPr algn="ctr"/>
                      <a:r>
                        <a:rPr lang="en-IN" dirty="0" smtClean="0"/>
                        <a:t>5</a:t>
                      </a:r>
                      <a:endParaRPr lang="en-US" dirty="0"/>
                    </a:p>
                  </a:txBody>
                  <a:tcPr/>
                </a:tc>
                <a:tc>
                  <a:txBody>
                    <a:bodyPr/>
                    <a:lstStyle/>
                    <a:p>
                      <a:pPr algn="ctr"/>
                      <a:r>
                        <a:rPr lang="en-IN" dirty="0" smtClean="0"/>
                        <a:t>ONEPLUS</a:t>
                      </a:r>
                      <a:endParaRPr lang="en-US" dirty="0"/>
                    </a:p>
                  </a:txBody>
                  <a:tcPr/>
                </a:tc>
                <a:tc>
                  <a:txBody>
                    <a:bodyPr/>
                    <a:lstStyle/>
                    <a:p>
                      <a:pPr algn="ctr"/>
                      <a:r>
                        <a:rPr lang="en-IN" dirty="0" smtClean="0"/>
                        <a:t>5</a:t>
                      </a:r>
                      <a:endParaRPr lang="en-US" dirty="0"/>
                    </a:p>
                  </a:txBody>
                  <a:tcPr/>
                </a:tc>
                <a:tc>
                  <a:txBody>
                    <a:bodyPr/>
                    <a:lstStyle/>
                    <a:p>
                      <a:pPr algn="ctr"/>
                      <a:r>
                        <a:rPr lang="en-IN" dirty="0" smtClean="0"/>
                        <a:t>10</a:t>
                      </a:r>
                      <a:endParaRPr lang="en-US" dirty="0"/>
                    </a:p>
                  </a:txBody>
                  <a:tcPr/>
                </a:tc>
              </a:tr>
              <a:tr h="299121">
                <a:tc>
                  <a:txBody>
                    <a:bodyPr/>
                    <a:lstStyle/>
                    <a:p>
                      <a:pPr algn="ctr"/>
                      <a:r>
                        <a:rPr lang="en-IN" dirty="0" smtClean="0"/>
                        <a:t>6</a:t>
                      </a:r>
                      <a:endParaRPr lang="en-US" dirty="0"/>
                    </a:p>
                  </a:txBody>
                  <a:tcPr/>
                </a:tc>
                <a:tc>
                  <a:txBody>
                    <a:bodyPr/>
                    <a:lstStyle/>
                    <a:p>
                      <a:pPr algn="ctr"/>
                      <a:r>
                        <a:rPr lang="en-IN" dirty="0" smtClean="0"/>
                        <a:t>OPPO</a:t>
                      </a:r>
                      <a:endParaRPr lang="en-US" dirty="0"/>
                    </a:p>
                  </a:txBody>
                  <a:tcPr/>
                </a:tc>
                <a:tc>
                  <a:txBody>
                    <a:bodyPr/>
                    <a:lstStyle/>
                    <a:p>
                      <a:pPr algn="ctr"/>
                      <a:r>
                        <a:rPr lang="en-IN" dirty="0" smtClean="0"/>
                        <a:t>6</a:t>
                      </a:r>
                      <a:endParaRPr lang="en-US" dirty="0"/>
                    </a:p>
                  </a:txBody>
                  <a:tcPr/>
                </a:tc>
                <a:tc>
                  <a:txBody>
                    <a:bodyPr/>
                    <a:lstStyle/>
                    <a:p>
                      <a:pPr algn="ctr"/>
                      <a:r>
                        <a:rPr lang="en-IN" dirty="0" smtClean="0"/>
                        <a:t>12</a:t>
                      </a:r>
                      <a:endParaRPr lang="en-US" dirty="0"/>
                    </a:p>
                  </a:txBody>
                  <a:tcPr/>
                </a:tc>
              </a:tr>
              <a:tr h="299121">
                <a:tc>
                  <a:txBody>
                    <a:bodyPr/>
                    <a:lstStyle/>
                    <a:p>
                      <a:pPr algn="ctr"/>
                      <a:r>
                        <a:rPr lang="en-IN" dirty="0" smtClean="0"/>
                        <a:t>7</a:t>
                      </a:r>
                      <a:endParaRPr lang="en-US" dirty="0"/>
                    </a:p>
                  </a:txBody>
                  <a:tcPr/>
                </a:tc>
                <a:tc>
                  <a:txBody>
                    <a:bodyPr/>
                    <a:lstStyle/>
                    <a:p>
                      <a:pPr algn="ctr"/>
                      <a:r>
                        <a:rPr lang="en-IN" dirty="0" smtClean="0"/>
                        <a:t>REALME</a:t>
                      </a:r>
                      <a:endParaRPr lang="en-US" dirty="0"/>
                    </a:p>
                  </a:txBody>
                  <a:tcPr/>
                </a:tc>
                <a:tc>
                  <a:txBody>
                    <a:bodyPr/>
                    <a:lstStyle/>
                    <a:p>
                      <a:pPr algn="ctr"/>
                      <a:r>
                        <a:rPr lang="en-IN" dirty="0" smtClean="0"/>
                        <a:t>8</a:t>
                      </a:r>
                      <a:endParaRPr lang="en-US" dirty="0"/>
                    </a:p>
                  </a:txBody>
                  <a:tcPr/>
                </a:tc>
                <a:tc>
                  <a:txBody>
                    <a:bodyPr/>
                    <a:lstStyle/>
                    <a:p>
                      <a:pPr algn="ctr"/>
                      <a:r>
                        <a:rPr lang="en-IN" dirty="0" smtClean="0"/>
                        <a:t>16</a:t>
                      </a:r>
                      <a:endParaRPr lang="en-US" dirty="0"/>
                    </a:p>
                  </a:txBody>
                  <a:tcPr/>
                </a:tc>
              </a:tr>
              <a:tr h="299121">
                <a:tc>
                  <a:txBody>
                    <a:bodyPr/>
                    <a:lstStyle/>
                    <a:p>
                      <a:pPr algn="ctr"/>
                      <a:r>
                        <a:rPr lang="en-IN" dirty="0" smtClean="0"/>
                        <a:t>8</a:t>
                      </a:r>
                      <a:endParaRPr lang="en-US" dirty="0"/>
                    </a:p>
                  </a:txBody>
                  <a:tcPr/>
                </a:tc>
                <a:tc>
                  <a:txBody>
                    <a:bodyPr/>
                    <a:lstStyle/>
                    <a:p>
                      <a:pPr algn="ctr"/>
                      <a:r>
                        <a:rPr lang="en-IN" dirty="0" smtClean="0"/>
                        <a:t>OTHERS</a:t>
                      </a:r>
                      <a:endParaRPr lang="en-US" dirty="0"/>
                    </a:p>
                  </a:txBody>
                  <a:tcPr/>
                </a:tc>
                <a:tc>
                  <a:txBody>
                    <a:bodyPr/>
                    <a:lstStyle/>
                    <a:p>
                      <a:pPr algn="ctr"/>
                      <a:r>
                        <a:rPr lang="en-IN" dirty="0" smtClean="0"/>
                        <a:t>1</a:t>
                      </a:r>
                      <a:endParaRPr lang="en-US" dirty="0"/>
                    </a:p>
                  </a:txBody>
                  <a:tcPr/>
                </a:tc>
                <a:tc>
                  <a:txBody>
                    <a:bodyPr/>
                    <a:lstStyle/>
                    <a:p>
                      <a:pPr algn="ctr"/>
                      <a:r>
                        <a:rPr lang="en-IN" dirty="0" smtClean="0"/>
                        <a:t>2</a:t>
                      </a:r>
                      <a:endParaRPr lang="en-US" dirty="0"/>
                    </a:p>
                  </a:txBody>
                  <a:tcPr/>
                </a:tc>
              </a:tr>
              <a:tr h="299121">
                <a:tc gridSpan="2">
                  <a:txBody>
                    <a:bodyPr/>
                    <a:lstStyle/>
                    <a:p>
                      <a:pPr algn="ctr"/>
                      <a:r>
                        <a:rPr lang="en-IN" dirty="0" smtClean="0"/>
                        <a:t>TOTAL</a:t>
                      </a:r>
                      <a:endParaRPr lang="en-US" dirty="0"/>
                    </a:p>
                  </a:txBody>
                  <a:tcPr/>
                </a:tc>
                <a:tc hMerge="1">
                  <a:txBody>
                    <a:bodyPr/>
                    <a:lstStyle/>
                    <a:p>
                      <a:endParaRPr lang="en-US" dirty="0"/>
                    </a:p>
                  </a:txBody>
                  <a:tcPr/>
                </a:tc>
                <a:tc>
                  <a:txBody>
                    <a:bodyPr/>
                    <a:lstStyle/>
                    <a:p>
                      <a:pPr algn="ctr"/>
                      <a:r>
                        <a:rPr lang="en-IN" dirty="0" smtClean="0"/>
                        <a:t>50</a:t>
                      </a:r>
                      <a:endParaRPr lang="en-US" dirty="0"/>
                    </a:p>
                  </a:txBody>
                  <a:tcPr/>
                </a:tc>
                <a:tc>
                  <a:txBody>
                    <a:bodyPr/>
                    <a:lstStyle/>
                    <a:p>
                      <a:pPr algn="ctr"/>
                      <a:r>
                        <a:rPr lang="en-IN" dirty="0" smtClean="0"/>
                        <a:t>100</a:t>
                      </a:r>
                      <a:endParaRPr lang="en-US" dirty="0"/>
                    </a:p>
                  </a:txBody>
                  <a:tcPr/>
                </a:tc>
              </a:tr>
            </a:tbl>
          </a:graphicData>
        </a:graphic>
      </p:graphicFrame>
      <p:sp>
        <p:nvSpPr>
          <p:cNvPr id="8" name="TextBox 7"/>
          <p:cNvSpPr txBox="1"/>
          <p:nvPr/>
        </p:nvSpPr>
        <p:spPr>
          <a:xfrm>
            <a:off x="3352807" y="362859"/>
            <a:ext cx="5689598" cy="523220"/>
          </a:xfrm>
          <a:prstGeom prst="rect">
            <a:avLst/>
          </a:prstGeom>
          <a:noFill/>
        </p:spPr>
        <p:txBody>
          <a:bodyPr wrap="square" rtlCol="0">
            <a:spAutoFit/>
          </a:bodyPr>
          <a:lstStyle/>
          <a:p>
            <a:pPr algn="ctr"/>
            <a:r>
              <a:rPr lang="en-IN" sz="2800" dirty="0" smtClean="0">
                <a:ln w="18415" cmpd="sng">
                  <a:solidFill>
                    <a:srgbClr val="FFFFFF"/>
                  </a:solidFill>
                  <a:prstDash val="solid"/>
                </a:ln>
                <a:solidFill>
                  <a:srgbClr val="FFFFFF"/>
                </a:solidFill>
                <a:effectLst>
                  <a:outerShdw blurRad="63500" dir="3600000" algn="tl" rotWithShape="0">
                    <a:srgbClr val="000000">
                      <a:alpha val="70000"/>
                    </a:srgbClr>
                  </a:outerShdw>
                </a:effectLst>
              </a:rPr>
              <a:t>BRAND  OF  MOBILE   YOU  USE</a:t>
            </a:r>
            <a:endParaRPr lang="en-US" sz="2000" dirty="0"/>
          </a:p>
        </p:txBody>
      </p:sp>
      <p:pic>
        <p:nvPicPr>
          <p:cNvPr id="10" name="image1.jpeg" descr="IMG-20240321-WA0056.jpg"/>
          <p:cNvPicPr/>
          <p:nvPr/>
        </p:nvPicPr>
        <p:blipFill>
          <a:blip r:embed="rId2" cstate="print"/>
          <a:stretch>
            <a:fillRect/>
          </a:stretch>
        </p:blipFill>
        <p:spPr>
          <a:xfrm>
            <a:off x="7649030" y="1814286"/>
            <a:ext cx="4281714" cy="3004458"/>
          </a:xfrm>
          <a:prstGeom prst="rect">
            <a:avLst/>
          </a:prstGeom>
        </p:spPr>
      </p:pic>
      <p:sp>
        <p:nvSpPr>
          <p:cNvPr id="12" name="Rectangle 11"/>
          <p:cNvSpPr/>
          <p:nvPr/>
        </p:nvSpPr>
        <p:spPr>
          <a:xfrm>
            <a:off x="1696763" y="5726276"/>
            <a:ext cx="1454244" cy="369332"/>
          </a:xfrm>
          <a:prstGeom prst="rect">
            <a:avLst/>
          </a:prstGeom>
        </p:spPr>
        <p:txBody>
          <a:bodyPr wrap="none">
            <a:spAutoFit/>
          </a:bodyPr>
          <a:lstStyle/>
          <a:p>
            <a:r>
              <a:rPr lang="en-US" u="sng"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INFERENCE</a:t>
            </a:r>
            <a:endParaRPr lang="en-US" sz="1200" dirty="0"/>
          </a:p>
        </p:txBody>
      </p:sp>
      <p:sp>
        <p:nvSpPr>
          <p:cNvPr id="13" name="Rectangle 12"/>
          <p:cNvSpPr/>
          <p:nvPr/>
        </p:nvSpPr>
        <p:spPr>
          <a:xfrm>
            <a:off x="1915887" y="6095777"/>
            <a:ext cx="6749142" cy="400110"/>
          </a:xfrm>
          <a:prstGeom prst="rect">
            <a:avLst/>
          </a:prstGeom>
        </p:spPr>
        <p:txBody>
          <a:bodyPr wrap="square">
            <a:spAutoFit/>
          </a:bodyPr>
          <a:lstStyle/>
          <a:p>
            <a:pPr algn="ctr"/>
            <a:r>
              <a:rPr lang="en-US" sz="2000" dirty="0" smtClean="0">
                <a:latin typeface="Times New Roman" panose="02020603050405020304" pitchFamily="18" charset="0"/>
                <a:cs typeface="Times New Roman" panose="02020603050405020304" pitchFamily="18" charset="0"/>
              </a:rPr>
              <a:t>Majority 22% of the respondents use apple brand.</a:t>
            </a:r>
            <a:endParaRPr lang="en-IN" sz="20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5067641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823" y="0"/>
            <a:ext cx="10353761" cy="1326321"/>
          </a:xfrm>
        </p:spPr>
        <p:txBody>
          <a:bodyPr>
            <a:normAutofit/>
          </a:bodyPr>
          <a:lstStyle/>
          <a:p>
            <a:r>
              <a:rPr lang="en-IN" sz="2800" u="sng" dirty="0" smtClean="0">
                <a:latin typeface="Times New Roman" panose="02020603050405020304" pitchFamily="18" charset="0"/>
                <a:cs typeface="Times New Roman" panose="02020603050405020304" pitchFamily="18" charset="0"/>
              </a:rPr>
              <a:t>Reasons for using this mobile</a:t>
            </a:r>
            <a:endParaRPr lang="en-IN" sz="2800" u="sng" dirty="0">
              <a:latin typeface="Times New Roman" panose="02020603050405020304" pitchFamily="18" charset="0"/>
              <a:cs typeface="Times New Roman" panose="02020603050405020304" pitchFamily="18" charset="0"/>
            </a:endParaRPr>
          </a:p>
        </p:txBody>
      </p:sp>
      <p:graphicFrame>
        <p:nvGraphicFramePr>
          <p:cNvPr id="9" name="Content Placeholder 3"/>
          <p:cNvGraphicFramePr>
            <a:graphicFrameLocks noGrp="1"/>
          </p:cNvGraphicFramePr>
          <p:nvPr>
            <p:ph idx="1"/>
            <p:extLst>
              <p:ext uri="{D42A27DB-BD31-4B8C-83A1-F6EECF244321}">
                <p14:modId xmlns="" xmlns:p14="http://schemas.microsoft.com/office/powerpoint/2010/main" val="2718122379"/>
              </p:ext>
            </p:extLst>
          </p:nvPr>
        </p:nvGraphicFramePr>
        <p:xfrm>
          <a:off x="331780" y="1291772"/>
          <a:ext cx="6022430" cy="5232127"/>
        </p:xfrm>
        <a:graphic>
          <a:graphicData uri="http://schemas.openxmlformats.org/drawingml/2006/table">
            <a:tbl>
              <a:tblPr firstRow="1" firstCol="1" lastRow="1" lastCol="1" bandRow="1" bandCol="1">
                <a:tableStyleId>{D03447BB-5D67-496B-8E87-E561075AD55C}</a:tableStyleId>
              </a:tblPr>
              <a:tblGrid>
                <a:gridCol w="1506442"/>
                <a:gridCol w="1506442"/>
                <a:gridCol w="1503104"/>
                <a:gridCol w="1506442"/>
              </a:tblGrid>
              <a:tr h="551542">
                <a:tc>
                  <a:txBody>
                    <a:bodyPr/>
                    <a:lstStyle/>
                    <a:p>
                      <a:pPr algn="ctr">
                        <a:spcBef>
                          <a:spcPts val="15"/>
                        </a:spcBef>
                        <a:spcAft>
                          <a:spcPts val="0"/>
                        </a:spcAft>
                      </a:pPr>
                      <a:r>
                        <a:rPr lang="en-US" sz="1400" dirty="0">
                          <a:effectLst/>
                        </a:rPr>
                        <a:t> </a:t>
                      </a:r>
                      <a:r>
                        <a:rPr lang="en-US" sz="1400" dirty="0" smtClean="0">
                          <a:effectLst/>
                        </a:rPr>
                        <a:t>S</a:t>
                      </a:r>
                      <a:r>
                        <a:rPr lang="en-US" sz="1400" dirty="0">
                          <a:effectLst/>
                        </a:rPr>
                        <a:t>.</a:t>
                      </a:r>
                      <a:r>
                        <a:rPr lang="en-US" sz="1400" spc="-10" dirty="0">
                          <a:effectLst/>
                        </a:rPr>
                        <a:t> </a:t>
                      </a:r>
                      <a:r>
                        <a:rPr lang="en-US" sz="1400" dirty="0" smtClean="0">
                          <a:effectLst/>
                        </a:rPr>
                        <a:t>NO</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5245" algn="ctr">
                        <a:spcBef>
                          <a:spcPts val="15"/>
                        </a:spcBef>
                        <a:spcAft>
                          <a:spcPts val="0"/>
                        </a:spcAft>
                      </a:pP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p>
                      <a:pPr marL="55880" marR="5524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PARTICULARS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US" sz="1400" dirty="0">
                          <a:effectLst/>
                        </a:rPr>
                        <a:t>NO OF</a:t>
                      </a:r>
                      <a:endParaRPr lang="en-IN" sz="1400" dirty="0">
                        <a:effectLst/>
                      </a:endParaRPr>
                    </a:p>
                    <a:p>
                      <a:pPr marL="52705" marR="52705" algn="ctr">
                        <a:spcBef>
                          <a:spcPts val="790"/>
                        </a:spcBef>
                        <a:spcAft>
                          <a:spcPts val="0"/>
                        </a:spcAft>
                      </a:pPr>
                      <a:r>
                        <a:rPr lang="en-US" sz="1400" dirty="0">
                          <a:effectLst/>
                        </a:rPr>
                        <a:t>RESPONDENTS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40005" marR="92075" algn="ctr">
                        <a:spcBef>
                          <a:spcPts val="15"/>
                        </a:spcBef>
                        <a:spcAft>
                          <a:spcPts val="0"/>
                        </a:spcAft>
                      </a:pPr>
                      <a:r>
                        <a:rPr lang="en-US" sz="1400" dirty="0">
                          <a:effectLst/>
                        </a:rPr>
                        <a:t>PERCENTAGE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15"/>
                        </a:spcBef>
                        <a:spcAft>
                          <a:spcPts val="0"/>
                        </a:spcAft>
                      </a:pPr>
                      <a:r>
                        <a:rPr lang="en-US" sz="1400" dirty="0">
                          <a:effectLst/>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mn-lt"/>
                          <a:ea typeface="+mn-ea"/>
                          <a:cs typeface="+mn-cs"/>
                        </a:rPr>
                        <a:t>WAP</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mn-lt"/>
                          <a:ea typeface="+mn-ea"/>
                          <a:cs typeface="+mn-cs"/>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5"/>
                        </a:spcBef>
                        <a:spcAft>
                          <a:spcPts val="0"/>
                        </a:spcAft>
                      </a:pPr>
                      <a:r>
                        <a:rPr lang="en-US" sz="1400" dirty="0">
                          <a:effectLst/>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5"/>
                        </a:spcBef>
                        <a:spcAft>
                          <a:spcPts val="0"/>
                        </a:spcAft>
                      </a:pPr>
                      <a:r>
                        <a:rPr lang="en-IN" sz="1400" dirty="0" smtClean="0">
                          <a:effectLst/>
                          <a:latin typeface="+mn-lt"/>
                          <a:ea typeface="+mn-ea"/>
                          <a:cs typeface="+mn-cs"/>
                        </a:rPr>
                        <a:t>JUST</a:t>
                      </a:r>
                      <a:r>
                        <a:rPr lang="en-IN" sz="1400" baseline="0" dirty="0" smtClean="0">
                          <a:effectLst/>
                          <a:latin typeface="+mn-lt"/>
                          <a:ea typeface="+mn-ea"/>
                          <a:cs typeface="+mn-cs"/>
                        </a:rPr>
                        <a:t> TO TALK ON IT</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5"/>
                        </a:spcBef>
                        <a:spcAft>
                          <a:spcPts val="0"/>
                        </a:spcAft>
                      </a:pPr>
                      <a:r>
                        <a:rPr lang="en-US" sz="1400" dirty="0" smtClean="0">
                          <a:effectLst/>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6400">
                <a:tc>
                  <a:txBody>
                    <a:bodyPr/>
                    <a:lstStyle/>
                    <a:p>
                      <a:pPr marL="9525" algn="ctr">
                        <a:spcBef>
                          <a:spcPts val="15"/>
                        </a:spcBef>
                        <a:spcAft>
                          <a:spcPts val="0"/>
                        </a:spcAft>
                      </a:pPr>
                      <a:r>
                        <a:rPr lang="en-US" sz="1400" dirty="0">
                          <a:effectLst/>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USE</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GPRS FUNCTION</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mn-lt"/>
                          <a:ea typeface="+mn-ea"/>
                          <a:cs typeface="+mn-cs"/>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US" sz="1400" dirty="0" smtClean="0">
                          <a:effectLst/>
                          <a:latin typeface="+mn-lt"/>
                          <a:ea typeface="+mn-ea"/>
                          <a:cs typeface="+mn-cs"/>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RECEIVE</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EMAIL&amp;SMS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US" sz="1400" dirty="0" smtClean="0">
                          <a:effectLst/>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DOWNLOADING FILES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GAMING</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30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MOVIES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9</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CAMERAS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9</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PROCESSOR</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BATTERY CAPACITY</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612140">
                <a:tc gridSpan="2">
                  <a:txBody>
                    <a:bodyPr/>
                    <a:lstStyle/>
                    <a:p>
                      <a:pPr algn="l">
                        <a:spcBef>
                          <a:spcPts val="15"/>
                        </a:spcBef>
                        <a:spcAft>
                          <a:spcPts val="0"/>
                        </a:spcAft>
                      </a:pPr>
                      <a:r>
                        <a:rPr lang="en-US" sz="1400" dirty="0">
                          <a:effectLst/>
                        </a:rPr>
                        <a:t> </a:t>
                      </a:r>
                      <a:endParaRPr lang="en-IN" sz="1400" dirty="0">
                        <a:effectLst/>
                      </a:endParaRPr>
                    </a:p>
                    <a:p>
                      <a:pPr marL="1106805" marR="1102995" algn="ctr">
                        <a:spcBef>
                          <a:spcPts val="5"/>
                        </a:spcBef>
                        <a:spcAft>
                          <a:spcPts val="0"/>
                        </a:spcAft>
                      </a:pPr>
                      <a:r>
                        <a:rPr lang="en-US" sz="1400" dirty="0">
                          <a:effectLst/>
                        </a:rPr>
                        <a:t>TOTAL</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hMerge="1">
                  <a:txBody>
                    <a:bodyPr/>
                    <a:lstStyle/>
                    <a:p>
                      <a:endParaRPr lang="en-IN"/>
                    </a:p>
                  </a:txBody>
                  <a:tcPr/>
                </a:tc>
                <a:tc>
                  <a:txBody>
                    <a:bodyPr/>
                    <a:lstStyle/>
                    <a:p>
                      <a:pPr algn="l">
                        <a:spcBef>
                          <a:spcPts val="15"/>
                        </a:spcBef>
                        <a:spcAft>
                          <a:spcPts val="0"/>
                        </a:spcAft>
                      </a:pPr>
                      <a:r>
                        <a:rPr lang="en-US" sz="1400">
                          <a:effectLst/>
                        </a:rPr>
                        <a:t> </a:t>
                      </a:r>
                      <a:endParaRPr lang="en-IN" sz="1400">
                        <a:effectLst/>
                      </a:endParaRPr>
                    </a:p>
                    <a:p>
                      <a:pPr marL="52705" marR="46355" algn="ctr">
                        <a:spcBef>
                          <a:spcPts val="5"/>
                        </a:spcBef>
                        <a:spcAft>
                          <a:spcPts val="0"/>
                        </a:spcAft>
                      </a:pPr>
                      <a:r>
                        <a:rPr lang="en-US" sz="1400">
                          <a:effectLst/>
                        </a:rPr>
                        <a:t>50</a:t>
                      </a:r>
                      <a:endParaRPr lang="en-IN" sz="14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55880" marR="46355" algn="ctr">
                        <a:spcBef>
                          <a:spcPts val="5"/>
                        </a:spcBef>
                        <a:spcAft>
                          <a:spcPts val="0"/>
                        </a:spcAft>
                      </a:pPr>
                      <a:r>
                        <a:rPr lang="en-US" sz="1400" dirty="0">
                          <a:effectLst/>
                        </a:rPr>
                        <a:t>100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bl>
          </a:graphicData>
        </a:graphic>
      </p:graphicFrame>
      <p:grpSp>
        <p:nvGrpSpPr>
          <p:cNvPr id="1026" name="Group 2"/>
          <p:cNvGrpSpPr>
            <a:grpSpLocks/>
          </p:cNvGrpSpPr>
          <p:nvPr/>
        </p:nvGrpSpPr>
        <p:grpSpPr bwMode="auto">
          <a:xfrm>
            <a:off x="6598104" y="1480457"/>
            <a:ext cx="5376182" cy="3817257"/>
            <a:chOff x="2346" y="361"/>
            <a:chExt cx="7215" cy="4335"/>
          </a:xfrm>
        </p:grpSpPr>
        <p:pic>
          <p:nvPicPr>
            <p:cNvPr id="1027" name="Picture 3"/>
            <p:cNvPicPr>
              <a:picLocks noChangeAspect="1" noChangeArrowheads="1"/>
            </p:cNvPicPr>
            <p:nvPr/>
          </p:nvPicPr>
          <p:blipFill>
            <a:blip r:embed="rId2"/>
            <a:srcRect/>
            <a:stretch>
              <a:fillRect/>
            </a:stretch>
          </p:blipFill>
          <p:spPr bwMode="auto">
            <a:xfrm>
              <a:off x="3129" y="1160"/>
              <a:ext cx="5990" cy="2040"/>
            </a:xfrm>
            <a:prstGeom prst="rect">
              <a:avLst/>
            </a:prstGeom>
            <a:noFill/>
          </p:spPr>
        </p:pic>
        <p:pic>
          <p:nvPicPr>
            <p:cNvPr id="1028" name="Picture 4"/>
            <p:cNvPicPr>
              <a:picLocks noChangeAspect="1" noChangeArrowheads="1"/>
            </p:cNvPicPr>
            <p:nvPr/>
          </p:nvPicPr>
          <p:blipFill>
            <a:blip r:embed="rId3"/>
            <a:srcRect/>
            <a:stretch>
              <a:fillRect/>
            </a:stretch>
          </p:blipFill>
          <p:spPr bwMode="auto">
            <a:xfrm>
              <a:off x="2713" y="3382"/>
              <a:ext cx="602" cy="583"/>
            </a:xfrm>
            <a:prstGeom prst="rect">
              <a:avLst/>
            </a:prstGeom>
            <a:noFill/>
          </p:spPr>
        </p:pic>
        <p:pic>
          <p:nvPicPr>
            <p:cNvPr id="1029" name="Picture 5"/>
            <p:cNvPicPr>
              <a:picLocks noChangeAspect="1" noChangeArrowheads="1"/>
            </p:cNvPicPr>
            <p:nvPr/>
          </p:nvPicPr>
          <p:blipFill>
            <a:blip r:embed="rId4"/>
            <a:srcRect/>
            <a:stretch>
              <a:fillRect/>
            </a:stretch>
          </p:blipFill>
          <p:spPr bwMode="auto">
            <a:xfrm>
              <a:off x="3559" y="3367"/>
              <a:ext cx="2550" cy="1109"/>
            </a:xfrm>
            <a:prstGeom prst="rect">
              <a:avLst/>
            </a:prstGeom>
            <a:noFill/>
          </p:spPr>
        </p:pic>
        <p:pic>
          <p:nvPicPr>
            <p:cNvPr id="1030" name="Picture 6"/>
            <p:cNvPicPr>
              <a:picLocks noChangeAspect="1" noChangeArrowheads="1"/>
            </p:cNvPicPr>
            <p:nvPr/>
          </p:nvPicPr>
          <p:blipFill>
            <a:blip r:embed="rId5"/>
            <a:srcRect/>
            <a:stretch>
              <a:fillRect/>
            </a:stretch>
          </p:blipFill>
          <p:spPr bwMode="auto">
            <a:xfrm>
              <a:off x="6231" y="3375"/>
              <a:ext cx="459" cy="426"/>
            </a:xfrm>
            <a:prstGeom prst="rect">
              <a:avLst/>
            </a:prstGeom>
            <a:noFill/>
          </p:spPr>
        </p:pic>
        <p:pic>
          <p:nvPicPr>
            <p:cNvPr id="1031" name="Picture 7"/>
            <p:cNvPicPr>
              <a:picLocks noChangeAspect="1" noChangeArrowheads="1"/>
            </p:cNvPicPr>
            <p:nvPr/>
          </p:nvPicPr>
          <p:blipFill>
            <a:blip r:embed="rId6"/>
            <a:srcRect/>
            <a:stretch>
              <a:fillRect/>
            </a:stretch>
          </p:blipFill>
          <p:spPr bwMode="auto">
            <a:xfrm>
              <a:off x="6799" y="3382"/>
              <a:ext cx="429" cy="410"/>
            </a:xfrm>
            <a:prstGeom prst="rect">
              <a:avLst/>
            </a:prstGeom>
            <a:noFill/>
          </p:spPr>
        </p:pic>
        <p:pic>
          <p:nvPicPr>
            <p:cNvPr id="1032" name="Picture 8"/>
            <p:cNvPicPr>
              <a:picLocks noChangeAspect="1" noChangeArrowheads="1"/>
            </p:cNvPicPr>
            <p:nvPr/>
          </p:nvPicPr>
          <p:blipFill>
            <a:blip r:embed="rId7"/>
            <a:srcRect/>
            <a:stretch>
              <a:fillRect/>
            </a:stretch>
          </p:blipFill>
          <p:spPr bwMode="auto">
            <a:xfrm>
              <a:off x="7297" y="3372"/>
              <a:ext cx="1613" cy="879"/>
            </a:xfrm>
            <a:prstGeom prst="rect">
              <a:avLst/>
            </a:prstGeom>
            <a:noFill/>
          </p:spPr>
        </p:pic>
        <p:sp>
          <p:nvSpPr>
            <p:cNvPr id="1033" name="Rectangle 9"/>
            <p:cNvSpPr>
              <a:spLocks noChangeArrowheads="1"/>
            </p:cNvSpPr>
            <p:nvPr/>
          </p:nvSpPr>
          <p:spPr bwMode="auto">
            <a:xfrm>
              <a:off x="2353" y="368"/>
              <a:ext cx="7200" cy="4320"/>
            </a:xfrm>
            <a:prstGeom prst="rect">
              <a:avLst/>
            </a:prstGeom>
            <a:noFill/>
            <a:ln w="9525">
              <a:solidFill>
                <a:srgbClr val="D9D9D9"/>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1034" name="Text Box 10"/>
            <p:cNvSpPr txBox="1">
              <a:spLocks noChangeArrowheads="1"/>
            </p:cNvSpPr>
            <p:nvPr/>
          </p:nvSpPr>
          <p:spPr bwMode="auto">
            <a:xfrm>
              <a:off x="2797" y="1167"/>
              <a:ext cx="203" cy="213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3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30</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0" marR="0" lvl="0" indent="0" algn="l" defTabSz="914400" rtl="0" eaLnBrk="1" fontAlgn="base" latinLnBrk="0" hangingPunct="1">
                <a:lnSpc>
                  <a:spcPct val="100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25</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0" marR="0" lvl="0" indent="0" algn="l" defTabSz="914400" rtl="0" eaLnBrk="1" fontAlgn="base" latinLnBrk="0" hangingPunct="1">
                <a:lnSpc>
                  <a:spcPct val="100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20</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0" marR="0" lvl="0" indent="0" algn="l" defTabSz="914400" rtl="0" eaLnBrk="1" fontAlgn="base" latinLnBrk="0" hangingPunct="1">
                <a:lnSpc>
                  <a:spcPct val="100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15</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0" marR="0" lvl="0" indent="0" algn="l" defTabSz="914400" rtl="0" eaLnBrk="1" fontAlgn="base" latinLnBrk="0" hangingPunct="1">
                <a:lnSpc>
                  <a:spcPct val="100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10</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457200" marR="0" lvl="1" indent="0" algn="l" defTabSz="914400" rtl="0" eaLnBrk="1" fontAlgn="base" latinLnBrk="0" hangingPunct="1">
                <a:lnSpc>
                  <a:spcPct val="100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5</a:t>
              </a:r>
              <a:endParaRPr kumimoji="0" lang="en-US" sz="900" b="0" i="0" u="none" strike="noStrike" cap="none" normalizeH="0" baseline="0" smtClean="0">
                <a:ln>
                  <a:noFill/>
                </a:ln>
                <a:solidFill>
                  <a:schemeClr val="tx1"/>
                </a:solidFill>
                <a:effectLst/>
                <a:latin typeface="Calibri" pitchFamily="34" charset="0"/>
                <a:ea typeface="Arial" pitchFamily="34" charset="0"/>
                <a:cs typeface="Arial" pitchFamily="34" charset="0"/>
              </a:endParaRPr>
            </a:p>
            <a:p>
              <a:pPr marL="457200" marR="0" lvl="1" indent="0" algn="l" defTabSz="914400" rtl="0" eaLnBrk="1" fontAlgn="base" latinLnBrk="0" hangingPunct="1">
                <a:lnSpc>
                  <a:spcPct val="86000"/>
                </a:lnSpc>
                <a:spcBef>
                  <a:spcPts val="525"/>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
        <p:nvSpPr>
          <p:cNvPr id="17" name="Rectangle 16"/>
          <p:cNvSpPr/>
          <p:nvPr/>
        </p:nvSpPr>
        <p:spPr>
          <a:xfrm>
            <a:off x="6486478" y="5450506"/>
            <a:ext cx="1454244" cy="369332"/>
          </a:xfrm>
          <a:prstGeom prst="rect">
            <a:avLst/>
          </a:prstGeom>
        </p:spPr>
        <p:txBody>
          <a:bodyPr wrap="none">
            <a:spAutoFit/>
          </a:bodyPr>
          <a:lstStyle/>
          <a:p>
            <a:r>
              <a:rPr lang="en-US" u="sng" dirty="0" smtClean="0">
                <a:latin typeface="Times New Roman" panose="02020603050405020304" pitchFamily="18" charset="0"/>
                <a:cs typeface="Times New Roman" panose="02020603050405020304" pitchFamily="18" charset="0"/>
              </a:rPr>
              <a:t>INFERENCE</a:t>
            </a:r>
            <a:endParaRPr lang="en-US" dirty="0"/>
          </a:p>
        </p:txBody>
      </p:sp>
      <p:sp>
        <p:nvSpPr>
          <p:cNvPr id="18" name="Rectangle 17"/>
          <p:cNvSpPr/>
          <p:nvPr/>
        </p:nvSpPr>
        <p:spPr>
          <a:xfrm>
            <a:off x="6743563" y="5943991"/>
            <a:ext cx="5006499" cy="646331"/>
          </a:xfrm>
          <a:prstGeom prst="rect">
            <a:avLst/>
          </a:prstGeom>
        </p:spPr>
        <p:txBody>
          <a:bodyPr wrap="none">
            <a:spAutoFit/>
          </a:bodyPr>
          <a:lstStyle/>
          <a:p>
            <a:pPr algn="ctr"/>
            <a:r>
              <a:rPr lang="en-US" dirty="0" smtClean="0">
                <a:latin typeface="Times New Roman" panose="02020603050405020304" pitchFamily="18" charset="0"/>
                <a:cs typeface="Times New Roman" panose="02020603050405020304" pitchFamily="18" charset="0"/>
              </a:rPr>
              <a:t>Majority 30% of the respondents are use for gaming</a:t>
            </a:r>
          </a:p>
          <a:p>
            <a:pPr algn="ctr"/>
            <a:r>
              <a:rPr lang="en-US" dirty="0" smtClean="0">
                <a:latin typeface="Times New Roman" panose="02020603050405020304" pitchFamily="18" charset="0"/>
                <a:cs typeface="Times New Roman" panose="02020603050405020304" pitchFamily="18" charset="0"/>
              </a:rPr>
              <a:t> purpose.</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95121485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82504" y="0"/>
            <a:ext cx="11024366" cy="1326321"/>
          </a:xfrm>
        </p:spPr>
        <p:txBody>
          <a:bodyPr/>
          <a:lstStyle/>
          <a:p>
            <a:r>
              <a:rPr lang="en-US" sz="2800" u="sng" dirty="0" smtClean="0">
                <a:latin typeface="Times New Roman" panose="02020603050405020304" pitchFamily="18" charset="0"/>
                <a:cs typeface="Times New Roman" panose="02020603050405020304" pitchFamily="18" charset="0"/>
              </a:rPr>
              <a:t>Factors influenced to use mobile phone </a:t>
            </a:r>
            <a:r>
              <a:rPr lang="en-US" u="sng" dirty="0" smtClean="0"/>
              <a:t> </a:t>
            </a:r>
            <a:endParaRPr lang="en-IN" u="sng" dirty="0"/>
          </a:p>
        </p:txBody>
      </p:sp>
      <p:sp>
        <p:nvSpPr>
          <p:cNvPr id="5" name="Snip Same Side Corner Rectangle 4"/>
          <p:cNvSpPr/>
          <p:nvPr/>
        </p:nvSpPr>
        <p:spPr>
          <a:xfrm>
            <a:off x="0" y="1259191"/>
            <a:ext cx="12192000" cy="4575551"/>
          </a:xfrm>
          <a:prstGeom prst="snip2SameRect">
            <a:avLst/>
          </a:prstGeom>
          <a:gradFill>
            <a:gsLst>
              <a:gs pos="0">
                <a:schemeClr val="dk1">
                  <a:tint val="94000"/>
                  <a:satMod val="100000"/>
                  <a:lumMod val="104000"/>
                </a:schemeClr>
              </a:gs>
              <a:gs pos="69000">
                <a:schemeClr val="dk1">
                  <a:shade val="86000"/>
                  <a:satMod val="130000"/>
                  <a:lumMod val="102000"/>
                </a:schemeClr>
              </a:gs>
              <a:gs pos="100000">
                <a:schemeClr val="dk1">
                  <a:shade val="72000"/>
                  <a:satMod val="130000"/>
                  <a:lumMod val="100000"/>
                </a:schemeClr>
              </a:gs>
            </a:gsLst>
            <a:lin ang="540000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6" name="Content Placeholder 3"/>
          <p:cNvGraphicFramePr>
            <a:graphicFrameLocks/>
          </p:cNvGraphicFramePr>
          <p:nvPr>
            <p:extLst>
              <p:ext uri="{D42A27DB-BD31-4B8C-83A1-F6EECF244321}">
                <p14:modId xmlns="" xmlns:p14="http://schemas.microsoft.com/office/powerpoint/2010/main" val="4219509786"/>
              </p:ext>
            </p:extLst>
          </p:nvPr>
        </p:nvGraphicFramePr>
        <p:xfrm>
          <a:off x="360808" y="1495436"/>
          <a:ext cx="6199649" cy="4186363"/>
        </p:xfrm>
        <a:graphic>
          <a:graphicData uri="http://schemas.openxmlformats.org/drawingml/2006/table">
            <a:tbl>
              <a:tblPr firstRow="1" firstCol="1" lastRow="1" lastCol="1" bandRow="1" bandCol="1">
                <a:tableStyleId>{D03447BB-5D67-496B-8E87-E561075AD55C}</a:tableStyleId>
              </a:tblPr>
              <a:tblGrid>
                <a:gridCol w="1506442"/>
                <a:gridCol w="1775836"/>
                <a:gridCol w="1494971"/>
                <a:gridCol w="1422400"/>
              </a:tblGrid>
              <a:tr h="828950">
                <a:tc>
                  <a:txBody>
                    <a:bodyPr/>
                    <a:lstStyle/>
                    <a:p>
                      <a:pPr algn="l">
                        <a:spcBef>
                          <a:spcPts val="15"/>
                        </a:spcBef>
                        <a:spcAft>
                          <a:spcPts val="0"/>
                        </a:spcAft>
                      </a:pPr>
                      <a:r>
                        <a:rPr lang="en-US" sz="1400" dirty="0">
                          <a:effectLst/>
                        </a:rPr>
                        <a:t> </a:t>
                      </a:r>
                      <a:endParaRPr lang="en-IN" sz="1400" dirty="0">
                        <a:effectLst/>
                      </a:endParaRPr>
                    </a:p>
                    <a:p>
                      <a:pPr marL="488950" algn="l">
                        <a:spcBef>
                          <a:spcPts val="15"/>
                        </a:spcBef>
                        <a:spcAft>
                          <a:spcPts val="0"/>
                        </a:spcAft>
                      </a:pPr>
                      <a:r>
                        <a:rPr lang="en-US" sz="1400" dirty="0">
                          <a:effectLst/>
                        </a:rPr>
                        <a:t>S.</a:t>
                      </a:r>
                      <a:r>
                        <a:rPr lang="en-US" sz="1400" spc="-10" dirty="0">
                          <a:effectLst/>
                        </a:rPr>
                        <a:t> </a:t>
                      </a:r>
                      <a:r>
                        <a:rPr lang="en-US" sz="1400" dirty="0" smtClean="0">
                          <a:effectLst/>
                        </a:rPr>
                        <a:t>NO</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endParaRPr lang="en-IN" sz="1400" dirty="0">
                        <a:effectLst/>
                      </a:endParaRPr>
                    </a:p>
                    <a:p>
                      <a:pPr marL="55880" marR="55245" algn="ctr">
                        <a:spcBef>
                          <a:spcPts val="15"/>
                        </a:spcBef>
                        <a:spcAft>
                          <a:spcPts val="0"/>
                        </a:spcAft>
                      </a:pPr>
                      <a:r>
                        <a:rPr lang="en-IN" sz="1400" baseline="0" dirty="0" smtClean="0">
                          <a:effectLst/>
                          <a:latin typeface="+mn-lt"/>
                          <a:ea typeface="+mn-ea"/>
                          <a:cs typeface="+mn-cs"/>
                        </a:rPr>
                        <a:t>PARTICULARS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US" sz="1400" dirty="0">
                          <a:effectLst/>
                        </a:rPr>
                        <a:t>NO OF</a:t>
                      </a:r>
                      <a:endParaRPr lang="en-IN" sz="1400" dirty="0">
                        <a:effectLst/>
                      </a:endParaRPr>
                    </a:p>
                    <a:p>
                      <a:pPr marL="52705" marR="52705" algn="ctr">
                        <a:spcBef>
                          <a:spcPts val="790"/>
                        </a:spcBef>
                        <a:spcAft>
                          <a:spcPts val="0"/>
                        </a:spcAft>
                      </a:pPr>
                      <a:r>
                        <a:rPr lang="en-US" sz="1400" dirty="0">
                          <a:effectLst/>
                        </a:rPr>
                        <a:t>RESPONDENTS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40005" marR="92075" algn="ctr">
                        <a:spcBef>
                          <a:spcPts val="15"/>
                        </a:spcBef>
                        <a:spcAft>
                          <a:spcPts val="0"/>
                        </a:spcAft>
                      </a:pPr>
                      <a:r>
                        <a:rPr lang="en-US" sz="1400" dirty="0">
                          <a:effectLst/>
                        </a:rPr>
                        <a:t>PERCENTAGE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15"/>
                        </a:spcBef>
                        <a:spcAft>
                          <a:spcPts val="0"/>
                        </a:spcAft>
                      </a:pPr>
                      <a:r>
                        <a:rPr lang="en-US" sz="1400" dirty="0">
                          <a:effectLst/>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mn-lt"/>
                          <a:ea typeface="+mn-ea"/>
                          <a:cs typeface="+mn-cs"/>
                        </a:rPr>
                        <a:t>PRICE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mn-lt"/>
                          <a:ea typeface="+mn-ea"/>
                          <a:cs typeface="+mn-cs"/>
                        </a:rPr>
                        <a:t>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9525" algn="ctr">
                        <a:spcBef>
                          <a:spcPts val="15"/>
                        </a:spcBef>
                        <a:spcAft>
                          <a:spcPts val="0"/>
                        </a:spcAft>
                      </a:pPr>
                      <a:r>
                        <a:rPr lang="en-US" sz="1400" dirty="0" smtClean="0">
                          <a:effectLst/>
                        </a:rPr>
                        <a:t>10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5"/>
                        </a:spcBef>
                        <a:spcAft>
                          <a:spcPts val="0"/>
                        </a:spcAft>
                      </a:pPr>
                      <a:r>
                        <a:rPr lang="en-US" sz="1400" dirty="0">
                          <a:effectLst/>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5"/>
                        </a:spcBef>
                        <a:spcAft>
                          <a:spcPts val="0"/>
                        </a:spcAft>
                      </a:pPr>
                      <a:r>
                        <a:rPr lang="en-IN" sz="1400" dirty="0" smtClean="0">
                          <a:effectLst/>
                          <a:latin typeface="+mn-lt"/>
                          <a:ea typeface="+mn-ea"/>
                          <a:cs typeface="+mn-cs"/>
                        </a:rPr>
                        <a:t>BRAND</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6400">
                <a:tc>
                  <a:txBody>
                    <a:bodyPr/>
                    <a:lstStyle/>
                    <a:p>
                      <a:pPr marL="9525" algn="ctr">
                        <a:spcBef>
                          <a:spcPts val="15"/>
                        </a:spcBef>
                        <a:spcAft>
                          <a:spcPts val="0"/>
                        </a:spcAft>
                      </a:pPr>
                      <a:r>
                        <a:rPr lang="en-US" sz="1400" dirty="0">
                          <a:effectLst/>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COLOR</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mn-lt"/>
                          <a:ea typeface="+mn-ea"/>
                          <a:cs typeface="+mn-cs"/>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US" sz="1400" dirty="0" smtClean="0">
                          <a:effectLst/>
                          <a:latin typeface="+mn-lt"/>
                          <a:ea typeface="+mn-ea"/>
                          <a:cs typeface="+mn-cs"/>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DESIGN</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FEATURES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USERS FRIENDLY</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5933">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FAMILY&amp;FRIENDS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612140">
                <a:tc gridSpan="2">
                  <a:txBody>
                    <a:bodyPr/>
                    <a:lstStyle/>
                    <a:p>
                      <a:pPr algn="l">
                        <a:spcBef>
                          <a:spcPts val="15"/>
                        </a:spcBef>
                        <a:spcAft>
                          <a:spcPts val="0"/>
                        </a:spcAft>
                      </a:pPr>
                      <a:r>
                        <a:rPr lang="en-US" sz="1400" dirty="0">
                          <a:effectLst/>
                        </a:rPr>
                        <a:t> </a:t>
                      </a:r>
                      <a:endParaRPr lang="en-IN" sz="1400" dirty="0">
                        <a:effectLst/>
                      </a:endParaRPr>
                    </a:p>
                    <a:p>
                      <a:pPr marL="1106805" marR="1102995" algn="ctr">
                        <a:spcBef>
                          <a:spcPts val="5"/>
                        </a:spcBef>
                        <a:spcAft>
                          <a:spcPts val="0"/>
                        </a:spcAft>
                      </a:pPr>
                      <a:r>
                        <a:rPr lang="en-US" sz="1400" dirty="0">
                          <a:effectLst/>
                        </a:rPr>
                        <a:t>TOTAL</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hMerge="1">
                  <a:txBody>
                    <a:bodyPr/>
                    <a:lstStyle/>
                    <a:p>
                      <a:endParaRPr lang="en-IN"/>
                    </a:p>
                  </a:txBody>
                  <a:tcPr/>
                </a:tc>
                <a:tc>
                  <a:txBody>
                    <a:bodyPr/>
                    <a:lstStyle/>
                    <a:p>
                      <a:pPr algn="l">
                        <a:spcBef>
                          <a:spcPts val="15"/>
                        </a:spcBef>
                        <a:spcAft>
                          <a:spcPts val="0"/>
                        </a:spcAft>
                      </a:pPr>
                      <a:r>
                        <a:rPr lang="en-US" sz="1400">
                          <a:effectLst/>
                        </a:rPr>
                        <a:t> </a:t>
                      </a:r>
                      <a:endParaRPr lang="en-IN" sz="1400">
                        <a:effectLst/>
                      </a:endParaRPr>
                    </a:p>
                    <a:p>
                      <a:pPr marL="52705" marR="46355" algn="ctr">
                        <a:spcBef>
                          <a:spcPts val="5"/>
                        </a:spcBef>
                        <a:spcAft>
                          <a:spcPts val="0"/>
                        </a:spcAft>
                      </a:pPr>
                      <a:r>
                        <a:rPr lang="en-US" sz="1400">
                          <a:effectLst/>
                        </a:rPr>
                        <a:t>50</a:t>
                      </a:r>
                      <a:endParaRPr lang="en-IN" sz="14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55880" marR="46355" algn="ctr">
                        <a:spcBef>
                          <a:spcPts val="5"/>
                        </a:spcBef>
                        <a:spcAft>
                          <a:spcPts val="0"/>
                        </a:spcAft>
                      </a:pPr>
                      <a:r>
                        <a:rPr lang="en-US" sz="1400" dirty="0">
                          <a:effectLst/>
                        </a:rPr>
                        <a:t>100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bl>
          </a:graphicData>
        </a:graphic>
      </p:graphicFrame>
      <p:grpSp>
        <p:nvGrpSpPr>
          <p:cNvPr id="2081" name="Group 33"/>
          <p:cNvGrpSpPr>
            <a:grpSpLocks/>
          </p:cNvGrpSpPr>
          <p:nvPr/>
        </p:nvGrpSpPr>
        <p:grpSpPr bwMode="auto">
          <a:xfrm>
            <a:off x="6830332" y="1378857"/>
            <a:ext cx="5071382" cy="4325257"/>
            <a:chOff x="2346" y="361"/>
            <a:chExt cx="7215" cy="5391"/>
          </a:xfrm>
        </p:grpSpPr>
        <p:sp>
          <p:nvSpPr>
            <p:cNvPr id="2082" name="Freeform 34"/>
            <p:cNvSpPr>
              <a:spLocks/>
            </p:cNvSpPr>
            <p:nvPr/>
          </p:nvSpPr>
          <p:spPr bwMode="auto">
            <a:xfrm>
              <a:off x="5953" y="1090"/>
              <a:ext cx="515" cy="478"/>
            </a:xfrm>
            <a:custGeom>
              <a:avLst/>
              <a:gdLst/>
              <a:ahLst/>
              <a:cxnLst>
                <a:cxn ang="0">
                  <a:pos x="0" y="0"/>
                </a:cxn>
                <a:cxn ang="0">
                  <a:pos x="0" y="416"/>
                </a:cxn>
                <a:cxn ang="0">
                  <a:pos x="78" y="418"/>
                </a:cxn>
                <a:cxn ang="0">
                  <a:pos x="157" y="426"/>
                </a:cxn>
                <a:cxn ang="0">
                  <a:pos x="234" y="438"/>
                </a:cxn>
                <a:cxn ang="0">
                  <a:pos x="311" y="455"/>
                </a:cxn>
                <a:cxn ang="0">
                  <a:pos x="386" y="477"/>
                </a:cxn>
                <a:cxn ang="0">
                  <a:pos x="515" y="81"/>
                </a:cxn>
                <a:cxn ang="0">
                  <a:pos x="443" y="60"/>
                </a:cxn>
                <a:cxn ang="0">
                  <a:pos x="371" y="41"/>
                </a:cxn>
                <a:cxn ang="0">
                  <a:pos x="297" y="26"/>
                </a:cxn>
                <a:cxn ang="0">
                  <a:pos x="224" y="15"/>
                </a:cxn>
                <a:cxn ang="0">
                  <a:pos x="149" y="6"/>
                </a:cxn>
                <a:cxn ang="0">
                  <a:pos x="75" y="1"/>
                </a:cxn>
                <a:cxn ang="0">
                  <a:pos x="0" y="0"/>
                </a:cxn>
              </a:cxnLst>
              <a:rect l="0" t="0" r="r" b="b"/>
              <a:pathLst>
                <a:path w="515" h="478">
                  <a:moveTo>
                    <a:pt x="0" y="0"/>
                  </a:moveTo>
                  <a:lnTo>
                    <a:pt x="0" y="416"/>
                  </a:lnTo>
                  <a:lnTo>
                    <a:pt x="78" y="418"/>
                  </a:lnTo>
                  <a:lnTo>
                    <a:pt x="157" y="426"/>
                  </a:lnTo>
                  <a:lnTo>
                    <a:pt x="234" y="438"/>
                  </a:lnTo>
                  <a:lnTo>
                    <a:pt x="311" y="455"/>
                  </a:lnTo>
                  <a:lnTo>
                    <a:pt x="386" y="477"/>
                  </a:lnTo>
                  <a:lnTo>
                    <a:pt x="515" y="81"/>
                  </a:lnTo>
                  <a:lnTo>
                    <a:pt x="443" y="60"/>
                  </a:lnTo>
                  <a:lnTo>
                    <a:pt x="371" y="41"/>
                  </a:lnTo>
                  <a:lnTo>
                    <a:pt x="297" y="26"/>
                  </a:lnTo>
                  <a:lnTo>
                    <a:pt x="224" y="15"/>
                  </a:lnTo>
                  <a:lnTo>
                    <a:pt x="149" y="6"/>
                  </a:lnTo>
                  <a:lnTo>
                    <a:pt x="75" y="1"/>
                  </a:lnTo>
                  <a:lnTo>
                    <a:pt x="0" y="0"/>
                  </a:lnTo>
                  <a:close/>
                </a:path>
              </a:pathLst>
            </a:custGeom>
            <a:solidFill>
              <a:srgbClr val="4471C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3" name="Freeform 35"/>
            <p:cNvSpPr>
              <a:spLocks/>
            </p:cNvSpPr>
            <p:nvPr/>
          </p:nvSpPr>
          <p:spPr bwMode="auto">
            <a:xfrm>
              <a:off x="6339" y="1172"/>
              <a:ext cx="962" cy="850"/>
            </a:xfrm>
            <a:custGeom>
              <a:avLst/>
              <a:gdLst/>
              <a:ahLst/>
              <a:cxnLst>
                <a:cxn ang="0">
                  <a:pos x="129" y="0"/>
                </a:cxn>
                <a:cxn ang="0">
                  <a:pos x="0" y="396"/>
                </a:cxn>
                <a:cxn ang="0">
                  <a:pos x="74" y="423"/>
                </a:cxn>
                <a:cxn ang="0">
                  <a:pos x="146" y="454"/>
                </a:cxn>
                <a:cxn ang="0">
                  <a:pos x="216" y="490"/>
                </a:cxn>
                <a:cxn ang="0">
                  <a:pos x="284" y="530"/>
                </a:cxn>
                <a:cxn ang="0">
                  <a:pos x="348" y="574"/>
                </a:cxn>
                <a:cxn ang="0">
                  <a:pos x="410" y="621"/>
                </a:cxn>
                <a:cxn ang="0">
                  <a:pos x="469" y="673"/>
                </a:cxn>
                <a:cxn ang="0">
                  <a:pos x="524" y="729"/>
                </a:cxn>
                <a:cxn ang="0">
                  <a:pos x="576" y="788"/>
                </a:cxn>
                <a:cxn ang="0">
                  <a:pos x="625" y="850"/>
                </a:cxn>
                <a:cxn ang="0">
                  <a:pos x="962" y="605"/>
                </a:cxn>
                <a:cxn ang="0">
                  <a:pos x="912" y="541"/>
                </a:cxn>
                <a:cxn ang="0">
                  <a:pos x="860" y="479"/>
                </a:cxn>
                <a:cxn ang="0">
                  <a:pos x="805" y="420"/>
                </a:cxn>
                <a:cxn ang="0">
                  <a:pos x="748" y="364"/>
                </a:cxn>
                <a:cxn ang="0">
                  <a:pos x="688" y="311"/>
                </a:cxn>
                <a:cxn ang="0">
                  <a:pos x="625" y="261"/>
                </a:cxn>
                <a:cxn ang="0">
                  <a:pos x="560" y="214"/>
                </a:cxn>
                <a:cxn ang="0">
                  <a:pos x="493" y="170"/>
                </a:cxn>
                <a:cxn ang="0">
                  <a:pos x="424" y="129"/>
                </a:cxn>
                <a:cxn ang="0">
                  <a:pos x="353" y="91"/>
                </a:cxn>
                <a:cxn ang="0">
                  <a:pos x="280" y="57"/>
                </a:cxn>
                <a:cxn ang="0">
                  <a:pos x="205" y="27"/>
                </a:cxn>
                <a:cxn ang="0">
                  <a:pos x="129" y="0"/>
                </a:cxn>
              </a:cxnLst>
              <a:rect l="0" t="0" r="r" b="b"/>
              <a:pathLst>
                <a:path w="962" h="850">
                  <a:moveTo>
                    <a:pt x="129" y="0"/>
                  </a:moveTo>
                  <a:lnTo>
                    <a:pt x="0" y="396"/>
                  </a:lnTo>
                  <a:lnTo>
                    <a:pt x="74" y="423"/>
                  </a:lnTo>
                  <a:lnTo>
                    <a:pt x="146" y="454"/>
                  </a:lnTo>
                  <a:lnTo>
                    <a:pt x="216" y="490"/>
                  </a:lnTo>
                  <a:lnTo>
                    <a:pt x="284" y="530"/>
                  </a:lnTo>
                  <a:lnTo>
                    <a:pt x="348" y="574"/>
                  </a:lnTo>
                  <a:lnTo>
                    <a:pt x="410" y="621"/>
                  </a:lnTo>
                  <a:lnTo>
                    <a:pt x="469" y="673"/>
                  </a:lnTo>
                  <a:lnTo>
                    <a:pt x="524" y="729"/>
                  </a:lnTo>
                  <a:lnTo>
                    <a:pt x="576" y="788"/>
                  </a:lnTo>
                  <a:lnTo>
                    <a:pt x="625" y="850"/>
                  </a:lnTo>
                  <a:lnTo>
                    <a:pt x="962" y="605"/>
                  </a:lnTo>
                  <a:lnTo>
                    <a:pt x="912" y="541"/>
                  </a:lnTo>
                  <a:lnTo>
                    <a:pt x="860" y="479"/>
                  </a:lnTo>
                  <a:lnTo>
                    <a:pt x="805" y="420"/>
                  </a:lnTo>
                  <a:lnTo>
                    <a:pt x="748" y="364"/>
                  </a:lnTo>
                  <a:lnTo>
                    <a:pt x="688" y="311"/>
                  </a:lnTo>
                  <a:lnTo>
                    <a:pt x="625" y="261"/>
                  </a:lnTo>
                  <a:lnTo>
                    <a:pt x="560" y="214"/>
                  </a:lnTo>
                  <a:lnTo>
                    <a:pt x="493" y="170"/>
                  </a:lnTo>
                  <a:lnTo>
                    <a:pt x="424" y="129"/>
                  </a:lnTo>
                  <a:lnTo>
                    <a:pt x="353" y="91"/>
                  </a:lnTo>
                  <a:lnTo>
                    <a:pt x="280" y="57"/>
                  </a:lnTo>
                  <a:lnTo>
                    <a:pt x="205" y="27"/>
                  </a:lnTo>
                  <a:lnTo>
                    <a:pt x="129" y="0"/>
                  </a:lnTo>
                  <a:close/>
                </a:path>
              </a:pathLst>
            </a:custGeom>
            <a:solidFill>
              <a:srgbClr val="EC7C3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4" name="Freeform 36"/>
            <p:cNvSpPr>
              <a:spLocks/>
            </p:cNvSpPr>
            <p:nvPr/>
          </p:nvSpPr>
          <p:spPr bwMode="auto">
            <a:xfrm>
              <a:off x="6339" y="1172"/>
              <a:ext cx="962" cy="850"/>
            </a:xfrm>
            <a:custGeom>
              <a:avLst/>
              <a:gdLst/>
              <a:ahLst/>
              <a:cxnLst>
                <a:cxn ang="0">
                  <a:pos x="129" y="0"/>
                </a:cxn>
                <a:cxn ang="0">
                  <a:pos x="205" y="27"/>
                </a:cxn>
                <a:cxn ang="0">
                  <a:pos x="280" y="57"/>
                </a:cxn>
                <a:cxn ang="0">
                  <a:pos x="353" y="91"/>
                </a:cxn>
                <a:cxn ang="0">
                  <a:pos x="424" y="129"/>
                </a:cxn>
                <a:cxn ang="0">
                  <a:pos x="493" y="170"/>
                </a:cxn>
                <a:cxn ang="0">
                  <a:pos x="560" y="214"/>
                </a:cxn>
                <a:cxn ang="0">
                  <a:pos x="625" y="261"/>
                </a:cxn>
                <a:cxn ang="0">
                  <a:pos x="688" y="311"/>
                </a:cxn>
                <a:cxn ang="0">
                  <a:pos x="748" y="364"/>
                </a:cxn>
                <a:cxn ang="0">
                  <a:pos x="805" y="420"/>
                </a:cxn>
                <a:cxn ang="0">
                  <a:pos x="860" y="479"/>
                </a:cxn>
                <a:cxn ang="0">
                  <a:pos x="912" y="541"/>
                </a:cxn>
                <a:cxn ang="0">
                  <a:pos x="962" y="605"/>
                </a:cxn>
                <a:cxn ang="0">
                  <a:pos x="625" y="850"/>
                </a:cxn>
                <a:cxn ang="0">
                  <a:pos x="576" y="788"/>
                </a:cxn>
                <a:cxn ang="0">
                  <a:pos x="524" y="729"/>
                </a:cxn>
                <a:cxn ang="0">
                  <a:pos x="469" y="673"/>
                </a:cxn>
                <a:cxn ang="0">
                  <a:pos x="410" y="621"/>
                </a:cxn>
                <a:cxn ang="0">
                  <a:pos x="348" y="574"/>
                </a:cxn>
                <a:cxn ang="0">
                  <a:pos x="284" y="530"/>
                </a:cxn>
                <a:cxn ang="0">
                  <a:pos x="216" y="490"/>
                </a:cxn>
                <a:cxn ang="0">
                  <a:pos x="146" y="454"/>
                </a:cxn>
                <a:cxn ang="0">
                  <a:pos x="74" y="423"/>
                </a:cxn>
                <a:cxn ang="0">
                  <a:pos x="0" y="396"/>
                </a:cxn>
                <a:cxn ang="0">
                  <a:pos x="129" y="0"/>
                </a:cxn>
              </a:cxnLst>
              <a:rect l="0" t="0" r="r" b="b"/>
              <a:pathLst>
                <a:path w="962" h="850">
                  <a:moveTo>
                    <a:pt x="129" y="0"/>
                  </a:moveTo>
                  <a:lnTo>
                    <a:pt x="205" y="27"/>
                  </a:lnTo>
                  <a:lnTo>
                    <a:pt x="280" y="57"/>
                  </a:lnTo>
                  <a:lnTo>
                    <a:pt x="353" y="91"/>
                  </a:lnTo>
                  <a:lnTo>
                    <a:pt x="424" y="129"/>
                  </a:lnTo>
                  <a:lnTo>
                    <a:pt x="493" y="170"/>
                  </a:lnTo>
                  <a:lnTo>
                    <a:pt x="560" y="214"/>
                  </a:lnTo>
                  <a:lnTo>
                    <a:pt x="625" y="261"/>
                  </a:lnTo>
                  <a:lnTo>
                    <a:pt x="688" y="311"/>
                  </a:lnTo>
                  <a:lnTo>
                    <a:pt x="748" y="364"/>
                  </a:lnTo>
                  <a:lnTo>
                    <a:pt x="805" y="420"/>
                  </a:lnTo>
                  <a:lnTo>
                    <a:pt x="860" y="479"/>
                  </a:lnTo>
                  <a:lnTo>
                    <a:pt x="912" y="541"/>
                  </a:lnTo>
                  <a:lnTo>
                    <a:pt x="962" y="605"/>
                  </a:lnTo>
                  <a:lnTo>
                    <a:pt x="625" y="850"/>
                  </a:lnTo>
                  <a:lnTo>
                    <a:pt x="576" y="788"/>
                  </a:lnTo>
                  <a:lnTo>
                    <a:pt x="524" y="729"/>
                  </a:lnTo>
                  <a:lnTo>
                    <a:pt x="469" y="673"/>
                  </a:lnTo>
                  <a:lnTo>
                    <a:pt x="410" y="621"/>
                  </a:lnTo>
                  <a:lnTo>
                    <a:pt x="348" y="574"/>
                  </a:lnTo>
                  <a:lnTo>
                    <a:pt x="284" y="530"/>
                  </a:lnTo>
                  <a:lnTo>
                    <a:pt x="216" y="490"/>
                  </a:lnTo>
                  <a:lnTo>
                    <a:pt x="146" y="454"/>
                  </a:lnTo>
                  <a:lnTo>
                    <a:pt x="74" y="423"/>
                  </a:lnTo>
                  <a:lnTo>
                    <a:pt x="0" y="396"/>
                  </a:lnTo>
                  <a:lnTo>
                    <a:pt x="129" y="0"/>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5" name="Freeform 37"/>
            <p:cNvSpPr>
              <a:spLocks/>
            </p:cNvSpPr>
            <p:nvPr/>
          </p:nvSpPr>
          <p:spPr bwMode="auto">
            <a:xfrm>
              <a:off x="6963" y="1777"/>
              <a:ext cx="626" cy="745"/>
            </a:xfrm>
            <a:custGeom>
              <a:avLst/>
              <a:gdLst/>
              <a:ahLst/>
              <a:cxnLst>
                <a:cxn ang="0">
                  <a:pos x="337" y="0"/>
                </a:cxn>
                <a:cxn ang="0">
                  <a:pos x="0" y="245"/>
                </a:cxn>
                <a:cxn ang="0">
                  <a:pos x="44" y="310"/>
                </a:cxn>
                <a:cxn ang="0">
                  <a:pos x="84" y="378"/>
                </a:cxn>
                <a:cxn ang="0">
                  <a:pos x="119" y="447"/>
                </a:cxn>
                <a:cxn ang="0">
                  <a:pos x="151" y="519"/>
                </a:cxn>
                <a:cxn ang="0">
                  <a:pos x="177" y="593"/>
                </a:cxn>
                <a:cxn ang="0">
                  <a:pos x="199" y="668"/>
                </a:cxn>
                <a:cxn ang="0">
                  <a:pos x="216" y="745"/>
                </a:cxn>
                <a:cxn ang="0">
                  <a:pos x="625" y="667"/>
                </a:cxn>
                <a:cxn ang="0">
                  <a:pos x="608" y="587"/>
                </a:cxn>
                <a:cxn ang="0">
                  <a:pos x="587" y="509"/>
                </a:cxn>
                <a:cxn ang="0">
                  <a:pos x="562" y="431"/>
                </a:cxn>
                <a:cxn ang="0">
                  <a:pos x="533" y="355"/>
                </a:cxn>
                <a:cxn ang="0">
                  <a:pos x="501" y="281"/>
                </a:cxn>
                <a:cxn ang="0">
                  <a:pos x="465" y="208"/>
                </a:cxn>
                <a:cxn ang="0">
                  <a:pos x="426" y="137"/>
                </a:cxn>
                <a:cxn ang="0">
                  <a:pos x="383" y="67"/>
                </a:cxn>
                <a:cxn ang="0">
                  <a:pos x="337" y="0"/>
                </a:cxn>
              </a:cxnLst>
              <a:rect l="0" t="0" r="r" b="b"/>
              <a:pathLst>
                <a:path w="626" h="745">
                  <a:moveTo>
                    <a:pt x="337" y="0"/>
                  </a:moveTo>
                  <a:lnTo>
                    <a:pt x="0" y="245"/>
                  </a:lnTo>
                  <a:lnTo>
                    <a:pt x="44" y="310"/>
                  </a:lnTo>
                  <a:lnTo>
                    <a:pt x="84" y="378"/>
                  </a:lnTo>
                  <a:lnTo>
                    <a:pt x="119" y="447"/>
                  </a:lnTo>
                  <a:lnTo>
                    <a:pt x="151" y="519"/>
                  </a:lnTo>
                  <a:lnTo>
                    <a:pt x="177" y="593"/>
                  </a:lnTo>
                  <a:lnTo>
                    <a:pt x="199" y="668"/>
                  </a:lnTo>
                  <a:lnTo>
                    <a:pt x="216" y="745"/>
                  </a:lnTo>
                  <a:lnTo>
                    <a:pt x="625" y="667"/>
                  </a:lnTo>
                  <a:lnTo>
                    <a:pt x="608" y="587"/>
                  </a:lnTo>
                  <a:lnTo>
                    <a:pt x="587" y="509"/>
                  </a:lnTo>
                  <a:lnTo>
                    <a:pt x="562" y="431"/>
                  </a:lnTo>
                  <a:lnTo>
                    <a:pt x="533" y="355"/>
                  </a:lnTo>
                  <a:lnTo>
                    <a:pt x="501" y="281"/>
                  </a:lnTo>
                  <a:lnTo>
                    <a:pt x="465" y="208"/>
                  </a:lnTo>
                  <a:lnTo>
                    <a:pt x="426" y="137"/>
                  </a:lnTo>
                  <a:lnTo>
                    <a:pt x="383" y="67"/>
                  </a:lnTo>
                  <a:lnTo>
                    <a:pt x="337" y="0"/>
                  </a:lnTo>
                  <a:close/>
                </a:path>
              </a:pathLst>
            </a:custGeom>
            <a:solidFill>
              <a:srgbClr val="A4A4A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6" name="Freeform 38"/>
            <p:cNvSpPr>
              <a:spLocks/>
            </p:cNvSpPr>
            <p:nvPr/>
          </p:nvSpPr>
          <p:spPr bwMode="auto">
            <a:xfrm>
              <a:off x="6963" y="1777"/>
              <a:ext cx="626" cy="745"/>
            </a:xfrm>
            <a:custGeom>
              <a:avLst/>
              <a:gdLst/>
              <a:ahLst/>
              <a:cxnLst>
                <a:cxn ang="0">
                  <a:pos x="337" y="0"/>
                </a:cxn>
                <a:cxn ang="0">
                  <a:pos x="383" y="67"/>
                </a:cxn>
                <a:cxn ang="0">
                  <a:pos x="426" y="137"/>
                </a:cxn>
                <a:cxn ang="0">
                  <a:pos x="465" y="208"/>
                </a:cxn>
                <a:cxn ang="0">
                  <a:pos x="501" y="281"/>
                </a:cxn>
                <a:cxn ang="0">
                  <a:pos x="533" y="355"/>
                </a:cxn>
                <a:cxn ang="0">
                  <a:pos x="562" y="431"/>
                </a:cxn>
                <a:cxn ang="0">
                  <a:pos x="587" y="509"/>
                </a:cxn>
                <a:cxn ang="0">
                  <a:pos x="608" y="587"/>
                </a:cxn>
                <a:cxn ang="0">
                  <a:pos x="625" y="667"/>
                </a:cxn>
                <a:cxn ang="0">
                  <a:pos x="216" y="745"/>
                </a:cxn>
                <a:cxn ang="0">
                  <a:pos x="199" y="668"/>
                </a:cxn>
                <a:cxn ang="0">
                  <a:pos x="177" y="593"/>
                </a:cxn>
                <a:cxn ang="0">
                  <a:pos x="151" y="519"/>
                </a:cxn>
                <a:cxn ang="0">
                  <a:pos x="119" y="447"/>
                </a:cxn>
                <a:cxn ang="0">
                  <a:pos x="84" y="378"/>
                </a:cxn>
                <a:cxn ang="0">
                  <a:pos x="44" y="310"/>
                </a:cxn>
                <a:cxn ang="0">
                  <a:pos x="0" y="245"/>
                </a:cxn>
                <a:cxn ang="0">
                  <a:pos x="337" y="0"/>
                </a:cxn>
              </a:cxnLst>
              <a:rect l="0" t="0" r="r" b="b"/>
              <a:pathLst>
                <a:path w="626" h="745">
                  <a:moveTo>
                    <a:pt x="337" y="0"/>
                  </a:moveTo>
                  <a:lnTo>
                    <a:pt x="383" y="67"/>
                  </a:lnTo>
                  <a:lnTo>
                    <a:pt x="426" y="137"/>
                  </a:lnTo>
                  <a:lnTo>
                    <a:pt x="465" y="208"/>
                  </a:lnTo>
                  <a:lnTo>
                    <a:pt x="501" y="281"/>
                  </a:lnTo>
                  <a:lnTo>
                    <a:pt x="533" y="355"/>
                  </a:lnTo>
                  <a:lnTo>
                    <a:pt x="562" y="431"/>
                  </a:lnTo>
                  <a:lnTo>
                    <a:pt x="587" y="509"/>
                  </a:lnTo>
                  <a:lnTo>
                    <a:pt x="608" y="587"/>
                  </a:lnTo>
                  <a:lnTo>
                    <a:pt x="625" y="667"/>
                  </a:lnTo>
                  <a:lnTo>
                    <a:pt x="216" y="745"/>
                  </a:lnTo>
                  <a:lnTo>
                    <a:pt x="199" y="668"/>
                  </a:lnTo>
                  <a:lnTo>
                    <a:pt x="177" y="593"/>
                  </a:lnTo>
                  <a:lnTo>
                    <a:pt x="151" y="519"/>
                  </a:lnTo>
                  <a:lnTo>
                    <a:pt x="119" y="447"/>
                  </a:lnTo>
                  <a:lnTo>
                    <a:pt x="84" y="378"/>
                  </a:lnTo>
                  <a:lnTo>
                    <a:pt x="44" y="310"/>
                  </a:lnTo>
                  <a:lnTo>
                    <a:pt x="0" y="245"/>
                  </a:lnTo>
                  <a:lnTo>
                    <a:pt x="337" y="0"/>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7" name="Freeform 39"/>
            <p:cNvSpPr>
              <a:spLocks/>
            </p:cNvSpPr>
            <p:nvPr/>
          </p:nvSpPr>
          <p:spPr bwMode="auto">
            <a:xfrm>
              <a:off x="7180" y="2444"/>
              <a:ext cx="439" cy="417"/>
            </a:xfrm>
            <a:custGeom>
              <a:avLst/>
              <a:gdLst/>
              <a:ahLst/>
              <a:cxnLst>
                <a:cxn ang="0">
                  <a:pos x="409" y="0"/>
                </a:cxn>
                <a:cxn ang="0">
                  <a:pos x="0" y="78"/>
                </a:cxn>
                <a:cxn ang="0">
                  <a:pos x="12" y="156"/>
                </a:cxn>
                <a:cxn ang="0">
                  <a:pos x="20" y="234"/>
                </a:cxn>
                <a:cxn ang="0">
                  <a:pos x="22" y="312"/>
                </a:cxn>
                <a:cxn ang="0">
                  <a:pos x="20" y="391"/>
                </a:cxn>
                <a:cxn ang="0">
                  <a:pos x="435" y="417"/>
                </a:cxn>
                <a:cxn ang="0">
                  <a:pos x="439" y="333"/>
                </a:cxn>
                <a:cxn ang="0">
                  <a:pos x="438" y="250"/>
                </a:cxn>
                <a:cxn ang="0">
                  <a:pos x="432" y="166"/>
                </a:cxn>
                <a:cxn ang="0">
                  <a:pos x="423" y="83"/>
                </a:cxn>
                <a:cxn ang="0">
                  <a:pos x="409" y="0"/>
                </a:cxn>
              </a:cxnLst>
              <a:rect l="0" t="0" r="r" b="b"/>
              <a:pathLst>
                <a:path w="439" h="417">
                  <a:moveTo>
                    <a:pt x="409" y="0"/>
                  </a:moveTo>
                  <a:lnTo>
                    <a:pt x="0" y="78"/>
                  </a:lnTo>
                  <a:lnTo>
                    <a:pt x="12" y="156"/>
                  </a:lnTo>
                  <a:lnTo>
                    <a:pt x="20" y="234"/>
                  </a:lnTo>
                  <a:lnTo>
                    <a:pt x="22" y="312"/>
                  </a:lnTo>
                  <a:lnTo>
                    <a:pt x="20" y="391"/>
                  </a:lnTo>
                  <a:lnTo>
                    <a:pt x="435" y="417"/>
                  </a:lnTo>
                  <a:lnTo>
                    <a:pt x="439" y="333"/>
                  </a:lnTo>
                  <a:lnTo>
                    <a:pt x="438" y="250"/>
                  </a:lnTo>
                  <a:lnTo>
                    <a:pt x="432" y="166"/>
                  </a:lnTo>
                  <a:lnTo>
                    <a:pt x="423" y="83"/>
                  </a:lnTo>
                  <a:lnTo>
                    <a:pt x="409" y="0"/>
                  </a:lnTo>
                  <a:close/>
                </a:path>
              </a:pathLst>
            </a:custGeom>
            <a:solidFill>
              <a:srgbClr val="FFC000"/>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8" name="Freeform 40"/>
            <p:cNvSpPr>
              <a:spLocks/>
            </p:cNvSpPr>
            <p:nvPr/>
          </p:nvSpPr>
          <p:spPr bwMode="auto">
            <a:xfrm>
              <a:off x="7180" y="2444"/>
              <a:ext cx="439" cy="417"/>
            </a:xfrm>
            <a:custGeom>
              <a:avLst/>
              <a:gdLst/>
              <a:ahLst/>
              <a:cxnLst>
                <a:cxn ang="0">
                  <a:pos x="409" y="0"/>
                </a:cxn>
                <a:cxn ang="0">
                  <a:pos x="423" y="83"/>
                </a:cxn>
                <a:cxn ang="0">
                  <a:pos x="432" y="166"/>
                </a:cxn>
                <a:cxn ang="0">
                  <a:pos x="438" y="250"/>
                </a:cxn>
                <a:cxn ang="0">
                  <a:pos x="439" y="333"/>
                </a:cxn>
                <a:cxn ang="0">
                  <a:pos x="435" y="417"/>
                </a:cxn>
                <a:cxn ang="0">
                  <a:pos x="20" y="391"/>
                </a:cxn>
                <a:cxn ang="0">
                  <a:pos x="22" y="312"/>
                </a:cxn>
                <a:cxn ang="0">
                  <a:pos x="20" y="234"/>
                </a:cxn>
                <a:cxn ang="0">
                  <a:pos x="12" y="156"/>
                </a:cxn>
                <a:cxn ang="0">
                  <a:pos x="0" y="78"/>
                </a:cxn>
                <a:cxn ang="0">
                  <a:pos x="409" y="0"/>
                </a:cxn>
              </a:cxnLst>
              <a:rect l="0" t="0" r="r" b="b"/>
              <a:pathLst>
                <a:path w="439" h="417">
                  <a:moveTo>
                    <a:pt x="409" y="0"/>
                  </a:moveTo>
                  <a:lnTo>
                    <a:pt x="423" y="83"/>
                  </a:lnTo>
                  <a:lnTo>
                    <a:pt x="432" y="166"/>
                  </a:lnTo>
                  <a:lnTo>
                    <a:pt x="438" y="250"/>
                  </a:lnTo>
                  <a:lnTo>
                    <a:pt x="439" y="333"/>
                  </a:lnTo>
                  <a:lnTo>
                    <a:pt x="435" y="417"/>
                  </a:lnTo>
                  <a:lnTo>
                    <a:pt x="20" y="391"/>
                  </a:lnTo>
                  <a:lnTo>
                    <a:pt x="22" y="312"/>
                  </a:lnTo>
                  <a:lnTo>
                    <a:pt x="20" y="234"/>
                  </a:lnTo>
                  <a:lnTo>
                    <a:pt x="12" y="156"/>
                  </a:lnTo>
                  <a:lnTo>
                    <a:pt x="0" y="78"/>
                  </a:lnTo>
                  <a:lnTo>
                    <a:pt x="409" y="0"/>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89" name="Freeform 41"/>
            <p:cNvSpPr>
              <a:spLocks/>
            </p:cNvSpPr>
            <p:nvPr/>
          </p:nvSpPr>
          <p:spPr bwMode="auto">
            <a:xfrm>
              <a:off x="6749" y="2834"/>
              <a:ext cx="866" cy="1205"/>
            </a:xfrm>
            <a:custGeom>
              <a:avLst/>
              <a:gdLst/>
              <a:ahLst/>
              <a:cxnLst>
                <a:cxn ang="0">
                  <a:pos x="451" y="0"/>
                </a:cxn>
                <a:cxn ang="0">
                  <a:pos x="443" y="79"/>
                </a:cxn>
                <a:cxn ang="0">
                  <a:pos x="431" y="157"/>
                </a:cxn>
                <a:cxn ang="0">
                  <a:pos x="414" y="233"/>
                </a:cxn>
                <a:cxn ang="0">
                  <a:pos x="392" y="308"/>
                </a:cxn>
                <a:cxn ang="0">
                  <a:pos x="365" y="382"/>
                </a:cxn>
                <a:cxn ang="0">
                  <a:pos x="334" y="454"/>
                </a:cxn>
                <a:cxn ang="0">
                  <a:pos x="299" y="523"/>
                </a:cxn>
                <a:cxn ang="0">
                  <a:pos x="259" y="590"/>
                </a:cxn>
                <a:cxn ang="0">
                  <a:pos x="215" y="655"/>
                </a:cxn>
                <a:cxn ang="0">
                  <a:pos x="168" y="717"/>
                </a:cxn>
                <a:cxn ang="0">
                  <a:pos x="116" y="776"/>
                </a:cxn>
                <a:cxn ang="0">
                  <a:pos x="60" y="831"/>
                </a:cxn>
                <a:cxn ang="0">
                  <a:pos x="0" y="884"/>
                </a:cxn>
                <a:cxn ang="0">
                  <a:pos x="266" y="1205"/>
                </a:cxn>
                <a:cxn ang="0">
                  <a:pos x="327" y="1152"/>
                </a:cxn>
                <a:cxn ang="0">
                  <a:pos x="385" y="1096"/>
                </a:cxn>
                <a:cxn ang="0">
                  <a:pos x="440" y="1038"/>
                </a:cxn>
                <a:cxn ang="0">
                  <a:pos x="493" y="977"/>
                </a:cxn>
                <a:cxn ang="0">
                  <a:pos x="542" y="914"/>
                </a:cxn>
                <a:cxn ang="0">
                  <a:pos x="588" y="849"/>
                </a:cxn>
                <a:cxn ang="0">
                  <a:pos x="630" y="782"/>
                </a:cxn>
                <a:cxn ang="0">
                  <a:pos x="670" y="713"/>
                </a:cxn>
                <a:cxn ang="0">
                  <a:pos x="706" y="642"/>
                </a:cxn>
                <a:cxn ang="0">
                  <a:pos x="738" y="569"/>
                </a:cxn>
                <a:cxn ang="0">
                  <a:pos x="768" y="495"/>
                </a:cxn>
                <a:cxn ang="0">
                  <a:pos x="793" y="420"/>
                </a:cxn>
                <a:cxn ang="0">
                  <a:pos x="815" y="343"/>
                </a:cxn>
                <a:cxn ang="0">
                  <a:pos x="834" y="265"/>
                </a:cxn>
                <a:cxn ang="0">
                  <a:pos x="848" y="186"/>
                </a:cxn>
                <a:cxn ang="0">
                  <a:pos x="859" y="107"/>
                </a:cxn>
                <a:cxn ang="0">
                  <a:pos x="866" y="26"/>
                </a:cxn>
                <a:cxn ang="0">
                  <a:pos x="451" y="0"/>
                </a:cxn>
              </a:cxnLst>
              <a:rect l="0" t="0" r="r" b="b"/>
              <a:pathLst>
                <a:path w="866" h="1205">
                  <a:moveTo>
                    <a:pt x="451" y="0"/>
                  </a:moveTo>
                  <a:lnTo>
                    <a:pt x="443" y="79"/>
                  </a:lnTo>
                  <a:lnTo>
                    <a:pt x="431" y="157"/>
                  </a:lnTo>
                  <a:lnTo>
                    <a:pt x="414" y="233"/>
                  </a:lnTo>
                  <a:lnTo>
                    <a:pt x="392" y="308"/>
                  </a:lnTo>
                  <a:lnTo>
                    <a:pt x="365" y="382"/>
                  </a:lnTo>
                  <a:lnTo>
                    <a:pt x="334" y="454"/>
                  </a:lnTo>
                  <a:lnTo>
                    <a:pt x="299" y="523"/>
                  </a:lnTo>
                  <a:lnTo>
                    <a:pt x="259" y="590"/>
                  </a:lnTo>
                  <a:lnTo>
                    <a:pt x="215" y="655"/>
                  </a:lnTo>
                  <a:lnTo>
                    <a:pt x="168" y="717"/>
                  </a:lnTo>
                  <a:lnTo>
                    <a:pt x="116" y="776"/>
                  </a:lnTo>
                  <a:lnTo>
                    <a:pt x="60" y="831"/>
                  </a:lnTo>
                  <a:lnTo>
                    <a:pt x="0" y="884"/>
                  </a:lnTo>
                  <a:lnTo>
                    <a:pt x="266" y="1205"/>
                  </a:lnTo>
                  <a:lnTo>
                    <a:pt x="327" y="1152"/>
                  </a:lnTo>
                  <a:lnTo>
                    <a:pt x="385" y="1096"/>
                  </a:lnTo>
                  <a:lnTo>
                    <a:pt x="440" y="1038"/>
                  </a:lnTo>
                  <a:lnTo>
                    <a:pt x="493" y="977"/>
                  </a:lnTo>
                  <a:lnTo>
                    <a:pt x="542" y="914"/>
                  </a:lnTo>
                  <a:lnTo>
                    <a:pt x="588" y="849"/>
                  </a:lnTo>
                  <a:lnTo>
                    <a:pt x="630" y="782"/>
                  </a:lnTo>
                  <a:lnTo>
                    <a:pt x="670" y="713"/>
                  </a:lnTo>
                  <a:lnTo>
                    <a:pt x="706" y="642"/>
                  </a:lnTo>
                  <a:lnTo>
                    <a:pt x="738" y="569"/>
                  </a:lnTo>
                  <a:lnTo>
                    <a:pt x="768" y="495"/>
                  </a:lnTo>
                  <a:lnTo>
                    <a:pt x="793" y="420"/>
                  </a:lnTo>
                  <a:lnTo>
                    <a:pt x="815" y="343"/>
                  </a:lnTo>
                  <a:lnTo>
                    <a:pt x="834" y="265"/>
                  </a:lnTo>
                  <a:lnTo>
                    <a:pt x="848" y="186"/>
                  </a:lnTo>
                  <a:lnTo>
                    <a:pt x="859" y="107"/>
                  </a:lnTo>
                  <a:lnTo>
                    <a:pt x="866" y="26"/>
                  </a:lnTo>
                  <a:lnTo>
                    <a:pt x="451" y="0"/>
                  </a:lnTo>
                  <a:close/>
                </a:path>
              </a:pathLst>
            </a:custGeom>
            <a:solidFill>
              <a:srgbClr val="5B9BD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0" name="Freeform 42"/>
            <p:cNvSpPr>
              <a:spLocks/>
            </p:cNvSpPr>
            <p:nvPr/>
          </p:nvSpPr>
          <p:spPr bwMode="auto">
            <a:xfrm>
              <a:off x="6749" y="2834"/>
              <a:ext cx="866" cy="1205"/>
            </a:xfrm>
            <a:custGeom>
              <a:avLst/>
              <a:gdLst/>
              <a:ahLst/>
              <a:cxnLst>
                <a:cxn ang="0">
                  <a:pos x="866" y="26"/>
                </a:cxn>
                <a:cxn ang="0">
                  <a:pos x="859" y="107"/>
                </a:cxn>
                <a:cxn ang="0">
                  <a:pos x="848" y="186"/>
                </a:cxn>
                <a:cxn ang="0">
                  <a:pos x="834" y="265"/>
                </a:cxn>
                <a:cxn ang="0">
                  <a:pos x="815" y="343"/>
                </a:cxn>
                <a:cxn ang="0">
                  <a:pos x="793" y="420"/>
                </a:cxn>
                <a:cxn ang="0">
                  <a:pos x="768" y="495"/>
                </a:cxn>
                <a:cxn ang="0">
                  <a:pos x="738" y="569"/>
                </a:cxn>
                <a:cxn ang="0">
                  <a:pos x="706" y="642"/>
                </a:cxn>
                <a:cxn ang="0">
                  <a:pos x="670" y="713"/>
                </a:cxn>
                <a:cxn ang="0">
                  <a:pos x="630" y="782"/>
                </a:cxn>
                <a:cxn ang="0">
                  <a:pos x="588" y="849"/>
                </a:cxn>
                <a:cxn ang="0">
                  <a:pos x="542" y="914"/>
                </a:cxn>
                <a:cxn ang="0">
                  <a:pos x="493" y="977"/>
                </a:cxn>
                <a:cxn ang="0">
                  <a:pos x="440" y="1038"/>
                </a:cxn>
                <a:cxn ang="0">
                  <a:pos x="385" y="1096"/>
                </a:cxn>
                <a:cxn ang="0">
                  <a:pos x="327" y="1152"/>
                </a:cxn>
                <a:cxn ang="0">
                  <a:pos x="266" y="1205"/>
                </a:cxn>
                <a:cxn ang="0">
                  <a:pos x="0" y="884"/>
                </a:cxn>
                <a:cxn ang="0">
                  <a:pos x="60" y="831"/>
                </a:cxn>
                <a:cxn ang="0">
                  <a:pos x="116" y="776"/>
                </a:cxn>
                <a:cxn ang="0">
                  <a:pos x="168" y="717"/>
                </a:cxn>
                <a:cxn ang="0">
                  <a:pos x="215" y="655"/>
                </a:cxn>
                <a:cxn ang="0">
                  <a:pos x="259" y="590"/>
                </a:cxn>
                <a:cxn ang="0">
                  <a:pos x="299" y="523"/>
                </a:cxn>
                <a:cxn ang="0">
                  <a:pos x="334" y="454"/>
                </a:cxn>
                <a:cxn ang="0">
                  <a:pos x="365" y="382"/>
                </a:cxn>
                <a:cxn ang="0">
                  <a:pos x="392" y="308"/>
                </a:cxn>
                <a:cxn ang="0">
                  <a:pos x="414" y="233"/>
                </a:cxn>
                <a:cxn ang="0">
                  <a:pos x="431" y="157"/>
                </a:cxn>
                <a:cxn ang="0">
                  <a:pos x="443" y="79"/>
                </a:cxn>
                <a:cxn ang="0">
                  <a:pos x="451" y="0"/>
                </a:cxn>
                <a:cxn ang="0">
                  <a:pos x="866" y="26"/>
                </a:cxn>
              </a:cxnLst>
              <a:rect l="0" t="0" r="r" b="b"/>
              <a:pathLst>
                <a:path w="866" h="1205">
                  <a:moveTo>
                    <a:pt x="866" y="26"/>
                  </a:moveTo>
                  <a:lnTo>
                    <a:pt x="859" y="107"/>
                  </a:lnTo>
                  <a:lnTo>
                    <a:pt x="848" y="186"/>
                  </a:lnTo>
                  <a:lnTo>
                    <a:pt x="834" y="265"/>
                  </a:lnTo>
                  <a:lnTo>
                    <a:pt x="815" y="343"/>
                  </a:lnTo>
                  <a:lnTo>
                    <a:pt x="793" y="420"/>
                  </a:lnTo>
                  <a:lnTo>
                    <a:pt x="768" y="495"/>
                  </a:lnTo>
                  <a:lnTo>
                    <a:pt x="738" y="569"/>
                  </a:lnTo>
                  <a:lnTo>
                    <a:pt x="706" y="642"/>
                  </a:lnTo>
                  <a:lnTo>
                    <a:pt x="670" y="713"/>
                  </a:lnTo>
                  <a:lnTo>
                    <a:pt x="630" y="782"/>
                  </a:lnTo>
                  <a:lnTo>
                    <a:pt x="588" y="849"/>
                  </a:lnTo>
                  <a:lnTo>
                    <a:pt x="542" y="914"/>
                  </a:lnTo>
                  <a:lnTo>
                    <a:pt x="493" y="977"/>
                  </a:lnTo>
                  <a:lnTo>
                    <a:pt x="440" y="1038"/>
                  </a:lnTo>
                  <a:lnTo>
                    <a:pt x="385" y="1096"/>
                  </a:lnTo>
                  <a:lnTo>
                    <a:pt x="327" y="1152"/>
                  </a:lnTo>
                  <a:lnTo>
                    <a:pt x="266" y="1205"/>
                  </a:lnTo>
                  <a:lnTo>
                    <a:pt x="0" y="884"/>
                  </a:lnTo>
                  <a:lnTo>
                    <a:pt x="60" y="831"/>
                  </a:lnTo>
                  <a:lnTo>
                    <a:pt x="116" y="776"/>
                  </a:lnTo>
                  <a:lnTo>
                    <a:pt x="168" y="717"/>
                  </a:lnTo>
                  <a:lnTo>
                    <a:pt x="215" y="655"/>
                  </a:lnTo>
                  <a:lnTo>
                    <a:pt x="259" y="590"/>
                  </a:lnTo>
                  <a:lnTo>
                    <a:pt x="299" y="523"/>
                  </a:lnTo>
                  <a:lnTo>
                    <a:pt x="334" y="454"/>
                  </a:lnTo>
                  <a:lnTo>
                    <a:pt x="365" y="382"/>
                  </a:lnTo>
                  <a:lnTo>
                    <a:pt x="392" y="308"/>
                  </a:lnTo>
                  <a:lnTo>
                    <a:pt x="414" y="233"/>
                  </a:lnTo>
                  <a:lnTo>
                    <a:pt x="431" y="157"/>
                  </a:lnTo>
                  <a:lnTo>
                    <a:pt x="443" y="79"/>
                  </a:lnTo>
                  <a:lnTo>
                    <a:pt x="451" y="0"/>
                  </a:lnTo>
                  <a:lnTo>
                    <a:pt x="866" y="26"/>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1" name="Freeform 43"/>
            <p:cNvSpPr>
              <a:spLocks/>
            </p:cNvSpPr>
            <p:nvPr/>
          </p:nvSpPr>
          <p:spPr bwMode="auto">
            <a:xfrm>
              <a:off x="6263" y="3718"/>
              <a:ext cx="752" cy="651"/>
            </a:xfrm>
            <a:custGeom>
              <a:avLst/>
              <a:gdLst/>
              <a:ahLst/>
              <a:cxnLst>
                <a:cxn ang="0">
                  <a:pos x="485" y="0"/>
                </a:cxn>
                <a:cxn ang="0">
                  <a:pos x="423" y="48"/>
                </a:cxn>
                <a:cxn ang="0">
                  <a:pos x="358" y="92"/>
                </a:cxn>
                <a:cxn ang="0">
                  <a:pos x="291" y="132"/>
                </a:cxn>
                <a:cxn ang="0">
                  <a:pos x="221" y="168"/>
                </a:cxn>
                <a:cxn ang="0">
                  <a:pos x="149" y="199"/>
                </a:cxn>
                <a:cxn ang="0">
                  <a:pos x="75" y="225"/>
                </a:cxn>
                <a:cxn ang="0">
                  <a:pos x="0" y="247"/>
                </a:cxn>
                <a:cxn ang="0">
                  <a:pos x="103" y="651"/>
                </a:cxn>
                <a:cxn ang="0">
                  <a:pos x="182" y="628"/>
                </a:cxn>
                <a:cxn ang="0">
                  <a:pos x="259" y="602"/>
                </a:cxn>
                <a:cxn ang="0">
                  <a:pos x="335" y="573"/>
                </a:cxn>
                <a:cxn ang="0">
                  <a:pos x="409" y="539"/>
                </a:cxn>
                <a:cxn ang="0">
                  <a:pos x="481" y="503"/>
                </a:cxn>
                <a:cxn ang="0">
                  <a:pos x="552" y="462"/>
                </a:cxn>
                <a:cxn ang="0">
                  <a:pos x="620" y="418"/>
                </a:cxn>
                <a:cxn ang="0">
                  <a:pos x="687" y="371"/>
                </a:cxn>
                <a:cxn ang="0">
                  <a:pos x="751" y="321"/>
                </a:cxn>
                <a:cxn ang="0">
                  <a:pos x="485" y="0"/>
                </a:cxn>
              </a:cxnLst>
              <a:rect l="0" t="0" r="r" b="b"/>
              <a:pathLst>
                <a:path w="752" h="651">
                  <a:moveTo>
                    <a:pt x="485" y="0"/>
                  </a:moveTo>
                  <a:lnTo>
                    <a:pt x="423" y="48"/>
                  </a:lnTo>
                  <a:lnTo>
                    <a:pt x="358" y="92"/>
                  </a:lnTo>
                  <a:lnTo>
                    <a:pt x="291" y="132"/>
                  </a:lnTo>
                  <a:lnTo>
                    <a:pt x="221" y="168"/>
                  </a:lnTo>
                  <a:lnTo>
                    <a:pt x="149" y="199"/>
                  </a:lnTo>
                  <a:lnTo>
                    <a:pt x="75" y="225"/>
                  </a:lnTo>
                  <a:lnTo>
                    <a:pt x="0" y="247"/>
                  </a:lnTo>
                  <a:lnTo>
                    <a:pt x="103" y="651"/>
                  </a:lnTo>
                  <a:lnTo>
                    <a:pt x="182" y="628"/>
                  </a:lnTo>
                  <a:lnTo>
                    <a:pt x="259" y="602"/>
                  </a:lnTo>
                  <a:lnTo>
                    <a:pt x="335" y="573"/>
                  </a:lnTo>
                  <a:lnTo>
                    <a:pt x="409" y="539"/>
                  </a:lnTo>
                  <a:lnTo>
                    <a:pt x="481" y="503"/>
                  </a:lnTo>
                  <a:lnTo>
                    <a:pt x="552" y="462"/>
                  </a:lnTo>
                  <a:lnTo>
                    <a:pt x="620" y="418"/>
                  </a:lnTo>
                  <a:lnTo>
                    <a:pt x="687" y="371"/>
                  </a:lnTo>
                  <a:lnTo>
                    <a:pt x="751" y="321"/>
                  </a:lnTo>
                  <a:lnTo>
                    <a:pt x="485" y="0"/>
                  </a:lnTo>
                  <a:close/>
                </a:path>
              </a:pathLst>
            </a:custGeom>
            <a:solidFill>
              <a:srgbClr val="254478"/>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2" name="Freeform 44"/>
            <p:cNvSpPr>
              <a:spLocks/>
            </p:cNvSpPr>
            <p:nvPr/>
          </p:nvSpPr>
          <p:spPr bwMode="auto">
            <a:xfrm>
              <a:off x="6263" y="3718"/>
              <a:ext cx="752" cy="651"/>
            </a:xfrm>
            <a:custGeom>
              <a:avLst/>
              <a:gdLst/>
              <a:ahLst/>
              <a:cxnLst>
                <a:cxn ang="0">
                  <a:pos x="751" y="321"/>
                </a:cxn>
                <a:cxn ang="0">
                  <a:pos x="687" y="371"/>
                </a:cxn>
                <a:cxn ang="0">
                  <a:pos x="620" y="418"/>
                </a:cxn>
                <a:cxn ang="0">
                  <a:pos x="552" y="462"/>
                </a:cxn>
                <a:cxn ang="0">
                  <a:pos x="481" y="503"/>
                </a:cxn>
                <a:cxn ang="0">
                  <a:pos x="409" y="539"/>
                </a:cxn>
                <a:cxn ang="0">
                  <a:pos x="335" y="573"/>
                </a:cxn>
                <a:cxn ang="0">
                  <a:pos x="259" y="602"/>
                </a:cxn>
                <a:cxn ang="0">
                  <a:pos x="182" y="628"/>
                </a:cxn>
                <a:cxn ang="0">
                  <a:pos x="103" y="651"/>
                </a:cxn>
                <a:cxn ang="0">
                  <a:pos x="0" y="247"/>
                </a:cxn>
                <a:cxn ang="0">
                  <a:pos x="75" y="225"/>
                </a:cxn>
                <a:cxn ang="0">
                  <a:pos x="149" y="199"/>
                </a:cxn>
                <a:cxn ang="0">
                  <a:pos x="221" y="168"/>
                </a:cxn>
                <a:cxn ang="0">
                  <a:pos x="291" y="132"/>
                </a:cxn>
                <a:cxn ang="0">
                  <a:pos x="358" y="92"/>
                </a:cxn>
                <a:cxn ang="0">
                  <a:pos x="423" y="48"/>
                </a:cxn>
                <a:cxn ang="0">
                  <a:pos x="485" y="0"/>
                </a:cxn>
                <a:cxn ang="0">
                  <a:pos x="751" y="321"/>
                </a:cxn>
              </a:cxnLst>
              <a:rect l="0" t="0" r="r" b="b"/>
              <a:pathLst>
                <a:path w="752" h="651">
                  <a:moveTo>
                    <a:pt x="751" y="321"/>
                  </a:moveTo>
                  <a:lnTo>
                    <a:pt x="687" y="371"/>
                  </a:lnTo>
                  <a:lnTo>
                    <a:pt x="620" y="418"/>
                  </a:lnTo>
                  <a:lnTo>
                    <a:pt x="552" y="462"/>
                  </a:lnTo>
                  <a:lnTo>
                    <a:pt x="481" y="503"/>
                  </a:lnTo>
                  <a:lnTo>
                    <a:pt x="409" y="539"/>
                  </a:lnTo>
                  <a:lnTo>
                    <a:pt x="335" y="573"/>
                  </a:lnTo>
                  <a:lnTo>
                    <a:pt x="259" y="602"/>
                  </a:lnTo>
                  <a:lnTo>
                    <a:pt x="182" y="628"/>
                  </a:lnTo>
                  <a:lnTo>
                    <a:pt x="103" y="651"/>
                  </a:lnTo>
                  <a:lnTo>
                    <a:pt x="0" y="247"/>
                  </a:lnTo>
                  <a:lnTo>
                    <a:pt x="75" y="225"/>
                  </a:lnTo>
                  <a:lnTo>
                    <a:pt x="149" y="199"/>
                  </a:lnTo>
                  <a:lnTo>
                    <a:pt x="221" y="168"/>
                  </a:lnTo>
                  <a:lnTo>
                    <a:pt x="291" y="132"/>
                  </a:lnTo>
                  <a:lnTo>
                    <a:pt x="358" y="92"/>
                  </a:lnTo>
                  <a:lnTo>
                    <a:pt x="423" y="48"/>
                  </a:lnTo>
                  <a:lnTo>
                    <a:pt x="485" y="0"/>
                  </a:lnTo>
                  <a:lnTo>
                    <a:pt x="751" y="321"/>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3" name="Freeform 45"/>
            <p:cNvSpPr>
              <a:spLocks/>
            </p:cNvSpPr>
            <p:nvPr/>
          </p:nvSpPr>
          <p:spPr bwMode="auto">
            <a:xfrm>
              <a:off x="5953" y="3966"/>
              <a:ext cx="415" cy="456"/>
            </a:xfrm>
            <a:custGeom>
              <a:avLst/>
              <a:gdLst/>
              <a:ahLst/>
              <a:cxnLst>
                <a:cxn ang="0">
                  <a:pos x="311" y="0"/>
                </a:cxn>
                <a:cxn ang="0">
                  <a:pos x="234" y="18"/>
                </a:cxn>
                <a:cxn ang="0">
                  <a:pos x="157" y="30"/>
                </a:cxn>
                <a:cxn ang="0">
                  <a:pos x="78" y="37"/>
                </a:cxn>
                <a:cxn ang="0">
                  <a:pos x="0" y="40"/>
                </a:cxn>
                <a:cxn ang="0">
                  <a:pos x="0" y="456"/>
                </a:cxn>
                <a:cxn ang="0">
                  <a:pos x="84" y="454"/>
                </a:cxn>
                <a:cxn ang="0">
                  <a:pos x="167" y="448"/>
                </a:cxn>
                <a:cxn ang="0">
                  <a:pos x="250" y="437"/>
                </a:cxn>
                <a:cxn ang="0">
                  <a:pos x="333" y="423"/>
                </a:cxn>
                <a:cxn ang="0">
                  <a:pos x="414" y="404"/>
                </a:cxn>
                <a:cxn ang="0">
                  <a:pos x="311" y="0"/>
                </a:cxn>
              </a:cxnLst>
              <a:rect l="0" t="0" r="r" b="b"/>
              <a:pathLst>
                <a:path w="415" h="456">
                  <a:moveTo>
                    <a:pt x="311" y="0"/>
                  </a:moveTo>
                  <a:lnTo>
                    <a:pt x="234" y="18"/>
                  </a:lnTo>
                  <a:lnTo>
                    <a:pt x="157" y="30"/>
                  </a:lnTo>
                  <a:lnTo>
                    <a:pt x="78" y="37"/>
                  </a:lnTo>
                  <a:lnTo>
                    <a:pt x="0" y="40"/>
                  </a:lnTo>
                  <a:lnTo>
                    <a:pt x="0" y="456"/>
                  </a:lnTo>
                  <a:lnTo>
                    <a:pt x="84" y="454"/>
                  </a:lnTo>
                  <a:lnTo>
                    <a:pt x="167" y="448"/>
                  </a:lnTo>
                  <a:lnTo>
                    <a:pt x="250" y="437"/>
                  </a:lnTo>
                  <a:lnTo>
                    <a:pt x="333" y="423"/>
                  </a:lnTo>
                  <a:lnTo>
                    <a:pt x="414" y="404"/>
                  </a:lnTo>
                  <a:lnTo>
                    <a:pt x="311" y="0"/>
                  </a:lnTo>
                  <a:close/>
                </a:path>
              </a:pathLst>
            </a:custGeom>
            <a:solidFill>
              <a:srgbClr val="9E470D"/>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4" name="Freeform 46"/>
            <p:cNvSpPr>
              <a:spLocks/>
            </p:cNvSpPr>
            <p:nvPr/>
          </p:nvSpPr>
          <p:spPr bwMode="auto">
            <a:xfrm>
              <a:off x="5953" y="3966"/>
              <a:ext cx="415" cy="456"/>
            </a:xfrm>
            <a:custGeom>
              <a:avLst/>
              <a:gdLst/>
              <a:ahLst/>
              <a:cxnLst>
                <a:cxn ang="0">
                  <a:pos x="414" y="404"/>
                </a:cxn>
                <a:cxn ang="0">
                  <a:pos x="333" y="423"/>
                </a:cxn>
                <a:cxn ang="0">
                  <a:pos x="250" y="437"/>
                </a:cxn>
                <a:cxn ang="0">
                  <a:pos x="167" y="448"/>
                </a:cxn>
                <a:cxn ang="0">
                  <a:pos x="84" y="454"/>
                </a:cxn>
                <a:cxn ang="0">
                  <a:pos x="0" y="456"/>
                </a:cxn>
                <a:cxn ang="0">
                  <a:pos x="0" y="40"/>
                </a:cxn>
                <a:cxn ang="0">
                  <a:pos x="78" y="37"/>
                </a:cxn>
                <a:cxn ang="0">
                  <a:pos x="157" y="30"/>
                </a:cxn>
                <a:cxn ang="0">
                  <a:pos x="234" y="18"/>
                </a:cxn>
                <a:cxn ang="0">
                  <a:pos x="311" y="0"/>
                </a:cxn>
                <a:cxn ang="0">
                  <a:pos x="414" y="404"/>
                </a:cxn>
              </a:cxnLst>
              <a:rect l="0" t="0" r="r" b="b"/>
              <a:pathLst>
                <a:path w="415" h="456">
                  <a:moveTo>
                    <a:pt x="414" y="404"/>
                  </a:moveTo>
                  <a:lnTo>
                    <a:pt x="333" y="423"/>
                  </a:lnTo>
                  <a:lnTo>
                    <a:pt x="250" y="437"/>
                  </a:lnTo>
                  <a:lnTo>
                    <a:pt x="167" y="448"/>
                  </a:lnTo>
                  <a:lnTo>
                    <a:pt x="84" y="454"/>
                  </a:lnTo>
                  <a:lnTo>
                    <a:pt x="0" y="456"/>
                  </a:lnTo>
                  <a:lnTo>
                    <a:pt x="0" y="40"/>
                  </a:lnTo>
                  <a:lnTo>
                    <a:pt x="78" y="37"/>
                  </a:lnTo>
                  <a:lnTo>
                    <a:pt x="157" y="30"/>
                  </a:lnTo>
                  <a:lnTo>
                    <a:pt x="234" y="18"/>
                  </a:lnTo>
                  <a:lnTo>
                    <a:pt x="311" y="0"/>
                  </a:lnTo>
                  <a:lnTo>
                    <a:pt x="414" y="404"/>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5" name="Freeform 47"/>
            <p:cNvSpPr>
              <a:spLocks/>
            </p:cNvSpPr>
            <p:nvPr/>
          </p:nvSpPr>
          <p:spPr bwMode="auto">
            <a:xfrm>
              <a:off x="4287" y="1090"/>
              <a:ext cx="1666" cy="3332"/>
            </a:xfrm>
            <a:custGeom>
              <a:avLst/>
              <a:gdLst/>
              <a:ahLst/>
              <a:cxnLst>
                <a:cxn ang="0">
                  <a:pos x="1514" y="6"/>
                </a:cxn>
                <a:cxn ang="0">
                  <a:pos x="1294" y="41"/>
                </a:cxn>
                <a:cxn ang="0">
                  <a:pos x="1085" y="104"/>
                </a:cxn>
                <a:cxn ang="0">
                  <a:pos x="888" y="192"/>
                </a:cxn>
                <a:cxn ang="0">
                  <a:pos x="705" y="304"/>
                </a:cxn>
                <a:cxn ang="0">
                  <a:pos x="539" y="438"/>
                </a:cxn>
                <a:cxn ang="0">
                  <a:pos x="392" y="592"/>
                </a:cxn>
                <a:cxn ang="0">
                  <a:pos x="265" y="764"/>
                </a:cxn>
                <a:cxn ang="0">
                  <a:pos x="161" y="951"/>
                </a:cxn>
                <a:cxn ang="0">
                  <a:pos x="81" y="1153"/>
                </a:cxn>
                <a:cxn ang="0">
                  <a:pos x="27" y="1366"/>
                </a:cxn>
                <a:cxn ang="0">
                  <a:pos x="2" y="1589"/>
                </a:cxn>
                <a:cxn ang="0">
                  <a:pos x="7" y="1817"/>
                </a:cxn>
                <a:cxn ang="0">
                  <a:pos x="42" y="2037"/>
                </a:cxn>
                <a:cxn ang="0">
                  <a:pos x="104" y="2247"/>
                </a:cxn>
                <a:cxn ang="0">
                  <a:pos x="193" y="2444"/>
                </a:cxn>
                <a:cxn ang="0">
                  <a:pos x="305" y="2626"/>
                </a:cxn>
                <a:cxn ang="0">
                  <a:pos x="439" y="2792"/>
                </a:cxn>
                <a:cxn ang="0">
                  <a:pos x="593" y="2939"/>
                </a:cxn>
                <a:cxn ang="0">
                  <a:pos x="764" y="3066"/>
                </a:cxn>
                <a:cxn ang="0">
                  <a:pos x="952" y="3171"/>
                </a:cxn>
                <a:cxn ang="0">
                  <a:pos x="1153" y="3251"/>
                </a:cxn>
                <a:cxn ang="0">
                  <a:pos x="1367" y="3304"/>
                </a:cxn>
                <a:cxn ang="0">
                  <a:pos x="1590" y="3329"/>
                </a:cxn>
                <a:cxn ang="0">
                  <a:pos x="1590" y="2912"/>
                </a:cxn>
                <a:cxn ang="0">
                  <a:pos x="1369" y="2879"/>
                </a:cxn>
                <a:cxn ang="0">
                  <a:pos x="1163" y="2809"/>
                </a:cxn>
                <a:cxn ang="0">
                  <a:pos x="975" y="2706"/>
                </a:cxn>
                <a:cxn ang="0">
                  <a:pos x="808" y="2574"/>
                </a:cxn>
                <a:cxn ang="0">
                  <a:pos x="666" y="2415"/>
                </a:cxn>
                <a:cxn ang="0">
                  <a:pos x="553" y="2233"/>
                </a:cxn>
                <a:cxn ang="0">
                  <a:pos x="471" y="2032"/>
                </a:cxn>
                <a:cxn ang="0">
                  <a:pos x="426" y="1816"/>
                </a:cxn>
                <a:cxn ang="0">
                  <a:pos x="419" y="1589"/>
                </a:cxn>
                <a:cxn ang="0">
                  <a:pos x="452" y="1369"/>
                </a:cxn>
                <a:cxn ang="0">
                  <a:pos x="522" y="1162"/>
                </a:cxn>
                <a:cxn ang="0">
                  <a:pos x="625" y="974"/>
                </a:cxn>
                <a:cxn ang="0">
                  <a:pos x="758" y="807"/>
                </a:cxn>
                <a:cxn ang="0">
                  <a:pos x="917" y="665"/>
                </a:cxn>
                <a:cxn ang="0">
                  <a:pos x="1098" y="552"/>
                </a:cxn>
                <a:cxn ang="0">
                  <a:pos x="1299" y="471"/>
                </a:cxn>
                <a:cxn ang="0">
                  <a:pos x="1515" y="425"/>
                </a:cxn>
                <a:cxn ang="0">
                  <a:pos x="1666" y="0"/>
                </a:cxn>
              </a:cxnLst>
              <a:rect l="0" t="0" r="r" b="b"/>
              <a:pathLst>
                <a:path w="1666" h="3332">
                  <a:moveTo>
                    <a:pt x="1666" y="0"/>
                  </a:moveTo>
                  <a:lnTo>
                    <a:pt x="1590" y="1"/>
                  </a:lnTo>
                  <a:lnTo>
                    <a:pt x="1514" y="6"/>
                  </a:lnTo>
                  <a:lnTo>
                    <a:pt x="1440" y="15"/>
                  </a:lnTo>
                  <a:lnTo>
                    <a:pt x="1367" y="26"/>
                  </a:lnTo>
                  <a:lnTo>
                    <a:pt x="1294" y="41"/>
                  </a:lnTo>
                  <a:lnTo>
                    <a:pt x="1223" y="59"/>
                  </a:lnTo>
                  <a:lnTo>
                    <a:pt x="1153" y="80"/>
                  </a:lnTo>
                  <a:lnTo>
                    <a:pt x="1085" y="104"/>
                  </a:lnTo>
                  <a:lnTo>
                    <a:pt x="1018" y="130"/>
                  </a:lnTo>
                  <a:lnTo>
                    <a:pt x="952" y="160"/>
                  </a:lnTo>
                  <a:lnTo>
                    <a:pt x="888" y="192"/>
                  </a:lnTo>
                  <a:lnTo>
                    <a:pt x="825" y="227"/>
                  </a:lnTo>
                  <a:lnTo>
                    <a:pt x="764" y="264"/>
                  </a:lnTo>
                  <a:lnTo>
                    <a:pt x="705" y="304"/>
                  </a:lnTo>
                  <a:lnTo>
                    <a:pt x="648" y="347"/>
                  </a:lnTo>
                  <a:lnTo>
                    <a:pt x="593" y="391"/>
                  </a:lnTo>
                  <a:lnTo>
                    <a:pt x="539" y="438"/>
                  </a:lnTo>
                  <a:lnTo>
                    <a:pt x="488" y="487"/>
                  </a:lnTo>
                  <a:lnTo>
                    <a:pt x="439" y="539"/>
                  </a:lnTo>
                  <a:lnTo>
                    <a:pt x="392" y="592"/>
                  </a:lnTo>
                  <a:lnTo>
                    <a:pt x="347" y="647"/>
                  </a:lnTo>
                  <a:lnTo>
                    <a:pt x="305" y="705"/>
                  </a:lnTo>
                  <a:lnTo>
                    <a:pt x="265" y="764"/>
                  </a:lnTo>
                  <a:lnTo>
                    <a:pt x="228" y="825"/>
                  </a:lnTo>
                  <a:lnTo>
                    <a:pt x="193" y="887"/>
                  </a:lnTo>
                  <a:lnTo>
                    <a:pt x="161" y="951"/>
                  </a:lnTo>
                  <a:lnTo>
                    <a:pt x="131" y="1017"/>
                  </a:lnTo>
                  <a:lnTo>
                    <a:pt x="104" y="1084"/>
                  </a:lnTo>
                  <a:lnTo>
                    <a:pt x="81" y="1153"/>
                  </a:lnTo>
                  <a:lnTo>
                    <a:pt x="60" y="1222"/>
                  </a:lnTo>
                  <a:lnTo>
                    <a:pt x="42" y="1294"/>
                  </a:lnTo>
                  <a:lnTo>
                    <a:pt x="27" y="1366"/>
                  </a:lnTo>
                  <a:lnTo>
                    <a:pt x="15" y="1439"/>
                  </a:lnTo>
                  <a:lnTo>
                    <a:pt x="7" y="1514"/>
                  </a:lnTo>
                  <a:lnTo>
                    <a:pt x="2" y="1589"/>
                  </a:lnTo>
                  <a:lnTo>
                    <a:pt x="0" y="1665"/>
                  </a:lnTo>
                  <a:lnTo>
                    <a:pt x="2" y="1742"/>
                  </a:lnTo>
                  <a:lnTo>
                    <a:pt x="7" y="1817"/>
                  </a:lnTo>
                  <a:lnTo>
                    <a:pt x="15" y="1891"/>
                  </a:lnTo>
                  <a:lnTo>
                    <a:pt x="27" y="1965"/>
                  </a:lnTo>
                  <a:lnTo>
                    <a:pt x="42" y="2037"/>
                  </a:lnTo>
                  <a:lnTo>
                    <a:pt x="60" y="2108"/>
                  </a:lnTo>
                  <a:lnTo>
                    <a:pt x="81" y="2178"/>
                  </a:lnTo>
                  <a:lnTo>
                    <a:pt x="104" y="2247"/>
                  </a:lnTo>
                  <a:lnTo>
                    <a:pt x="131" y="2314"/>
                  </a:lnTo>
                  <a:lnTo>
                    <a:pt x="161" y="2379"/>
                  </a:lnTo>
                  <a:lnTo>
                    <a:pt x="193" y="2444"/>
                  </a:lnTo>
                  <a:lnTo>
                    <a:pt x="228" y="2506"/>
                  </a:lnTo>
                  <a:lnTo>
                    <a:pt x="265" y="2567"/>
                  </a:lnTo>
                  <a:lnTo>
                    <a:pt x="305" y="2626"/>
                  </a:lnTo>
                  <a:lnTo>
                    <a:pt x="347" y="2683"/>
                  </a:lnTo>
                  <a:lnTo>
                    <a:pt x="392" y="2739"/>
                  </a:lnTo>
                  <a:lnTo>
                    <a:pt x="439" y="2792"/>
                  </a:lnTo>
                  <a:lnTo>
                    <a:pt x="488" y="2843"/>
                  </a:lnTo>
                  <a:lnTo>
                    <a:pt x="539" y="2892"/>
                  </a:lnTo>
                  <a:lnTo>
                    <a:pt x="593" y="2939"/>
                  </a:lnTo>
                  <a:lnTo>
                    <a:pt x="648" y="2984"/>
                  </a:lnTo>
                  <a:lnTo>
                    <a:pt x="705" y="3026"/>
                  </a:lnTo>
                  <a:lnTo>
                    <a:pt x="764" y="3066"/>
                  </a:lnTo>
                  <a:lnTo>
                    <a:pt x="825" y="3104"/>
                  </a:lnTo>
                  <a:lnTo>
                    <a:pt x="888" y="3139"/>
                  </a:lnTo>
                  <a:lnTo>
                    <a:pt x="952" y="3171"/>
                  </a:lnTo>
                  <a:lnTo>
                    <a:pt x="1018" y="3200"/>
                  </a:lnTo>
                  <a:lnTo>
                    <a:pt x="1085" y="3227"/>
                  </a:lnTo>
                  <a:lnTo>
                    <a:pt x="1153" y="3251"/>
                  </a:lnTo>
                  <a:lnTo>
                    <a:pt x="1223" y="3272"/>
                  </a:lnTo>
                  <a:lnTo>
                    <a:pt x="1294" y="3289"/>
                  </a:lnTo>
                  <a:lnTo>
                    <a:pt x="1367" y="3304"/>
                  </a:lnTo>
                  <a:lnTo>
                    <a:pt x="1440" y="3316"/>
                  </a:lnTo>
                  <a:lnTo>
                    <a:pt x="1514" y="3324"/>
                  </a:lnTo>
                  <a:lnTo>
                    <a:pt x="1590" y="3329"/>
                  </a:lnTo>
                  <a:lnTo>
                    <a:pt x="1666" y="3331"/>
                  </a:lnTo>
                  <a:lnTo>
                    <a:pt x="1666" y="2915"/>
                  </a:lnTo>
                  <a:lnTo>
                    <a:pt x="1590" y="2912"/>
                  </a:lnTo>
                  <a:lnTo>
                    <a:pt x="1515" y="2906"/>
                  </a:lnTo>
                  <a:lnTo>
                    <a:pt x="1441" y="2895"/>
                  </a:lnTo>
                  <a:lnTo>
                    <a:pt x="1369" y="2879"/>
                  </a:lnTo>
                  <a:lnTo>
                    <a:pt x="1299" y="2860"/>
                  </a:lnTo>
                  <a:lnTo>
                    <a:pt x="1230" y="2837"/>
                  </a:lnTo>
                  <a:lnTo>
                    <a:pt x="1163" y="2809"/>
                  </a:lnTo>
                  <a:lnTo>
                    <a:pt x="1098" y="2779"/>
                  </a:lnTo>
                  <a:lnTo>
                    <a:pt x="1035" y="2744"/>
                  </a:lnTo>
                  <a:lnTo>
                    <a:pt x="975" y="2706"/>
                  </a:lnTo>
                  <a:lnTo>
                    <a:pt x="917" y="2665"/>
                  </a:lnTo>
                  <a:lnTo>
                    <a:pt x="861" y="2621"/>
                  </a:lnTo>
                  <a:lnTo>
                    <a:pt x="808" y="2574"/>
                  </a:lnTo>
                  <a:lnTo>
                    <a:pt x="758" y="2523"/>
                  </a:lnTo>
                  <a:lnTo>
                    <a:pt x="710" y="2470"/>
                  </a:lnTo>
                  <a:lnTo>
                    <a:pt x="666" y="2415"/>
                  </a:lnTo>
                  <a:lnTo>
                    <a:pt x="625" y="2356"/>
                  </a:lnTo>
                  <a:lnTo>
                    <a:pt x="587" y="2296"/>
                  </a:lnTo>
                  <a:lnTo>
                    <a:pt x="553" y="2233"/>
                  </a:lnTo>
                  <a:lnTo>
                    <a:pt x="522" y="2168"/>
                  </a:lnTo>
                  <a:lnTo>
                    <a:pt x="495" y="2101"/>
                  </a:lnTo>
                  <a:lnTo>
                    <a:pt x="471" y="2032"/>
                  </a:lnTo>
                  <a:lnTo>
                    <a:pt x="452" y="1962"/>
                  </a:lnTo>
                  <a:lnTo>
                    <a:pt x="437" y="1890"/>
                  </a:lnTo>
                  <a:lnTo>
                    <a:pt x="426" y="1816"/>
                  </a:lnTo>
                  <a:lnTo>
                    <a:pt x="419" y="1741"/>
                  </a:lnTo>
                  <a:lnTo>
                    <a:pt x="417" y="1665"/>
                  </a:lnTo>
                  <a:lnTo>
                    <a:pt x="419" y="1589"/>
                  </a:lnTo>
                  <a:lnTo>
                    <a:pt x="426" y="1514"/>
                  </a:lnTo>
                  <a:lnTo>
                    <a:pt x="437" y="1441"/>
                  </a:lnTo>
                  <a:lnTo>
                    <a:pt x="452" y="1369"/>
                  </a:lnTo>
                  <a:lnTo>
                    <a:pt x="471" y="1298"/>
                  </a:lnTo>
                  <a:lnTo>
                    <a:pt x="495" y="1229"/>
                  </a:lnTo>
                  <a:lnTo>
                    <a:pt x="522" y="1162"/>
                  </a:lnTo>
                  <a:lnTo>
                    <a:pt x="553" y="1098"/>
                  </a:lnTo>
                  <a:lnTo>
                    <a:pt x="587" y="1035"/>
                  </a:lnTo>
                  <a:lnTo>
                    <a:pt x="625" y="974"/>
                  </a:lnTo>
                  <a:lnTo>
                    <a:pt x="666" y="916"/>
                  </a:lnTo>
                  <a:lnTo>
                    <a:pt x="710" y="860"/>
                  </a:lnTo>
                  <a:lnTo>
                    <a:pt x="758" y="807"/>
                  </a:lnTo>
                  <a:lnTo>
                    <a:pt x="808" y="757"/>
                  </a:lnTo>
                  <a:lnTo>
                    <a:pt x="861" y="710"/>
                  </a:lnTo>
                  <a:lnTo>
                    <a:pt x="917" y="665"/>
                  </a:lnTo>
                  <a:lnTo>
                    <a:pt x="975" y="624"/>
                  </a:lnTo>
                  <a:lnTo>
                    <a:pt x="1035" y="586"/>
                  </a:lnTo>
                  <a:lnTo>
                    <a:pt x="1098" y="552"/>
                  </a:lnTo>
                  <a:lnTo>
                    <a:pt x="1163" y="521"/>
                  </a:lnTo>
                  <a:lnTo>
                    <a:pt x="1230" y="494"/>
                  </a:lnTo>
                  <a:lnTo>
                    <a:pt x="1299" y="471"/>
                  </a:lnTo>
                  <a:lnTo>
                    <a:pt x="1369" y="451"/>
                  </a:lnTo>
                  <a:lnTo>
                    <a:pt x="1441" y="436"/>
                  </a:lnTo>
                  <a:lnTo>
                    <a:pt x="1515" y="425"/>
                  </a:lnTo>
                  <a:lnTo>
                    <a:pt x="1590" y="418"/>
                  </a:lnTo>
                  <a:lnTo>
                    <a:pt x="1666" y="416"/>
                  </a:lnTo>
                  <a:lnTo>
                    <a:pt x="1666" y="0"/>
                  </a:lnTo>
                  <a:close/>
                </a:path>
              </a:pathLst>
            </a:custGeom>
            <a:solidFill>
              <a:srgbClr val="626262"/>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6" name="Freeform 48"/>
            <p:cNvSpPr>
              <a:spLocks/>
            </p:cNvSpPr>
            <p:nvPr/>
          </p:nvSpPr>
          <p:spPr bwMode="auto">
            <a:xfrm>
              <a:off x="4287" y="1090"/>
              <a:ext cx="1666" cy="3332"/>
            </a:xfrm>
            <a:custGeom>
              <a:avLst/>
              <a:gdLst/>
              <a:ahLst/>
              <a:cxnLst>
                <a:cxn ang="0">
                  <a:pos x="1514" y="3324"/>
                </a:cxn>
                <a:cxn ang="0">
                  <a:pos x="1294" y="3289"/>
                </a:cxn>
                <a:cxn ang="0">
                  <a:pos x="1085" y="3227"/>
                </a:cxn>
                <a:cxn ang="0">
                  <a:pos x="888" y="3139"/>
                </a:cxn>
                <a:cxn ang="0">
                  <a:pos x="705" y="3026"/>
                </a:cxn>
                <a:cxn ang="0">
                  <a:pos x="539" y="2892"/>
                </a:cxn>
                <a:cxn ang="0">
                  <a:pos x="392" y="2739"/>
                </a:cxn>
                <a:cxn ang="0">
                  <a:pos x="265" y="2567"/>
                </a:cxn>
                <a:cxn ang="0">
                  <a:pos x="161" y="2379"/>
                </a:cxn>
                <a:cxn ang="0">
                  <a:pos x="81" y="2178"/>
                </a:cxn>
                <a:cxn ang="0">
                  <a:pos x="27" y="1965"/>
                </a:cxn>
                <a:cxn ang="0">
                  <a:pos x="2" y="1742"/>
                </a:cxn>
                <a:cxn ang="0">
                  <a:pos x="7" y="1514"/>
                </a:cxn>
                <a:cxn ang="0">
                  <a:pos x="42" y="1294"/>
                </a:cxn>
                <a:cxn ang="0">
                  <a:pos x="104" y="1084"/>
                </a:cxn>
                <a:cxn ang="0">
                  <a:pos x="193" y="887"/>
                </a:cxn>
                <a:cxn ang="0">
                  <a:pos x="305" y="705"/>
                </a:cxn>
                <a:cxn ang="0">
                  <a:pos x="439" y="539"/>
                </a:cxn>
                <a:cxn ang="0">
                  <a:pos x="593" y="391"/>
                </a:cxn>
                <a:cxn ang="0">
                  <a:pos x="764" y="264"/>
                </a:cxn>
                <a:cxn ang="0">
                  <a:pos x="952" y="160"/>
                </a:cxn>
                <a:cxn ang="0">
                  <a:pos x="1153" y="80"/>
                </a:cxn>
                <a:cxn ang="0">
                  <a:pos x="1367" y="26"/>
                </a:cxn>
                <a:cxn ang="0">
                  <a:pos x="1590" y="1"/>
                </a:cxn>
                <a:cxn ang="0">
                  <a:pos x="1590" y="418"/>
                </a:cxn>
                <a:cxn ang="0">
                  <a:pos x="1369" y="451"/>
                </a:cxn>
                <a:cxn ang="0">
                  <a:pos x="1163" y="521"/>
                </a:cxn>
                <a:cxn ang="0">
                  <a:pos x="975" y="624"/>
                </a:cxn>
                <a:cxn ang="0">
                  <a:pos x="808" y="757"/>
                </a:cxn>
                <a:cxn ang="0">
                  <a:pos x="666" y="916"/>
                </a:cxn>
                <a:cxn ang="0">
                  <a:pos x="553" y="1098"/>
                </a:cxn>
                <a:cxn ang="0">
                  <a:pos x="471" y="1298"/>
                </a:cxn>
                <a:cxn ang="0">
                  <a:pos x="426" y="1514"/>
                </a:cxn>
                <a:cxn ang="0">
                  <a:pos x="419" y="1741"/>
                </a:cxn>
                <a:cxn ang="0">
                  <a:pos x="452" y="1962"/>
                </a:cxn>
                <a:cxn ang="0">
                  <a:pos x="522" y="2168"/>
                </a:cxn>
                <a:cxn ang="0">
                  <a:pos x="625" y="2356"/>
                </a:cxn>
                <a:cxn ang="0">
                  <a:pos x="758" y="2523"/>
                </a:cxn>
                <a:cxn ang="0">
                  <a:pos x="917" y="2665"/>
                </a:cxn>
                <a:cxn ang="0">
                  <a:pos x="1098" y="2779"/>
                </a:cxn>
                <a:cxn ang="0">
                  <a:pos x="1299" y="2860"/>
                </a:cxn>
                <a:cxn ang="0">
                  <a:pos x="1515" y="2906"/>
                </a:cxn>
                <a:cxn ang="0">
                  <a:pos x="1666" y="3331"/>
                </a:cxn>
              </a:cxnLst>
              <a:rect l="0" t="0" r="r" b="b"/>
              <a:pathLst>
                <a:path w="1666" h="3332">
                  <a:moveTo>
                    <a:pt x="1666" y="3331"/>
                  </a:moveTo>
                  <a:lnTo>
                    <a:pt x="1590" y="3329"/>
                  </a:lnTo>
                  <a:lnTo>
                    <a:pt x="1514" y="3324"/>
                  </a:lnTo>
                  <a:lnTo>
                    <a:pt x="1440" y="3316"/>
                  </a:lnTo>
                  <a:lnTo>
                    <a:pt x="1367" y="3304"/>
                  </a:lnTo>
                  <a:lnTo>
                    <a:pt x="1294" y="3289"/>
                  </a:lnTo>
                  <a:lnTo>
                    <a:pt x="1223" y="3272"/>
                  </a:lnTo>
                  <a:lnTo>
                    <a:pt x="1153" y="3251"/>
                  </a:lnTo>
                  <a:lnTo>
                    <a:pt x="1085" y="3227"/>
                  </a:lnTo>
                  <a:lnTo>
                    <a:pt x="1018" y="3200"/>
                  </a:lnTo>
                  <a:lnTo>
                    <a:pt x="952" y="3171"/>
                  </a:lnTo>
                  <a:lnTo>
                    <a:pt x="888" y="3139"/>
                  </a:lnTo>
                  <a:lnTo>
                    <a:pt x="825" y="3104"/>
                  </a:lnTo>
                  <a:lnTo>
                    <a:pt x="764" y="3066"/>
                  </a:lnTo>
                  <a:lnTo>
                    <a:pt x="705" y="3026"/>
                  </a:lnTo>
                  <a:lnTo>
                    <a:pt x="648" y="2984"/>
                  </a:lnTo>
                  <a:lnTo>
                    <a:pt x="593" y="2939"/>
                  </a:lnTo>
                  <a:lnTo>
                    <a:pt x="539" y="2892"/>
                  </a:lnTo>
                  <a:lnTo>
                    <a:pt x="488" y="2843"/>
                  </a:lnTo>
                  <a:lnTo>
                    <a:pt x="439" y="2792"/>
                  </a:lnTo>
                  <a:lnTo>
                    <a:pt x="392" y="2739"/>
                  </a:lnTo>
                  <a:lnTo>
                    <a:pt x="347" y="2683"/>
                  </a:lnTo>
                  <a:lnTo>
                    <a:pt x="305" y="2626"/>
                  </a:lnTo>
                  <a:lnTo>
                    <a:pt x="265" y="2567"/>
                  </a:lnTo>
                  <a:lnTo>
                    <a:pt x="228" y="2506"/>
                  </a:lnTo>
                  <a:lnTo>
                    <a:pt x="193" y="2444"/>
                  </a:lnTo>
                  <a:lnTo>
                    <a:pt x="161" y="2379"/>
                  </a:lnTo>
                  <a:lnTo>
                    <a:pt x="131" y="2314"/>
                  </a:lnTo>
                  <a:lnTo>
                    <a:pt x="104" y="2247"/>
                  </a:lnTo>
                  <a:lnTo>
                    <a:pt x="81" y="2178"/>
                  </a:lnTo>
                  <a:lnTo>
                    <a:pt x="60" y="2108"/>
                  </a:lnTo>
                  <a:lnTo>
                    <a:pt x="42" y="2037"/>
                  </a:lnTo>
                  <a:lnTo>
                    <a:pt x="27" y="1965"/>
                  </a:lnTo>
                  <a:lnTo>
                    <a:pt x="15" y="1891"/>
                  </a:lnTo>
                  <a:lnTo>
                    <a:pt x="7" y="1817"/>
                  </a:lnTo>
                  <a:lnTo>
                    <a:pt x="2" y="1742"/>
                  </a:lnTo>
                  <a:lnTo>
                    <a:pt x="0" y="1665"/>
                  </a:lnTo>
                  <a:lnTo>
                    <a:pt x="2" y="1589"/>
                  </a:lnTo>
                  <a:lnTo>
                    <a:pt x="7" y="1514"/>
                  </a:lnTo>
                  <a:lnTo>
                    <a:pt x="15" y="1439"/>
                  </a:lnTo>
                  <a:lnTo>
                    <a:pt x="27" y="1366"/>
                  </a:lnTo>
                  <a:lnTo>
                    <a:pt x="42" y="1294"/>
                  </a:lnTo>
                  <a:lnTo>
                    <a:pt x="60" y="1222"/>
                  </a:lnTo>
                  <a:lnTo>
                    <a:pt x="81" y="1153"/>
                  </a:lnTo>
                  <a:lnTo>
                    <a:pt x="104" y="1084"/>
                  </a:lnTo>
                  <a:lnTo>
                    <a:pt x="131" y="1017"/>
                  </a:lnTo>
                  <a:lnTo>
                    <a:pt x="161" y="951"/>
                  </a:lnTo>
                  <a:lnTo>
                    <a:pt x="193" y="887"/>
                  </a:lnTo>
                  <a:lnTo>
                    <a:pt x="228" y="825"/>
                  </a:lnTo>
                  <a:lnTo>
                    <a:pt x="265" y="764"/>
                  </a:lnTo>
                  <a:lnTo>
                    <a:pt x="305" y="705"/>
                  </a:lnTo>
                  <a:lnTo>
                    <a:pt x="347" y="647"/>
                  </a:lnTo>
                  <a:lnTo>
                    <a:pt x="392" y="592"/>
                  </a:lnTo>
                  <a:lnTo>
                    <a:pt x="439" y="539"/>
                  </a:lnTo>
                  <a:lnTo>
                    <a:pt x="488" y="487"/>
                  </a:lnTo>
                  <a:lnTo>
                    <a:pt x="539" y="438"/>
                  </a:lnTo>
                  <a:lnTo>
                    <a:pt x="593" y="391"/>
                  </a:lnTo>
                  <a:lnTo>
                    <a:pt x="648" y="347"/>
                  </a:lnTo>
                  <a:lnTo>
                    <a:pt x="705" y="304"/>
                  </a:lnTo>
                  <a:lnTo>
                    <a:pt x="764" y="264"/>
                  </a:lnTo>
                  <a:lnTo>
                    <a:pt x="825" y="227"/>
                  </a:lnTo>
                  <a:lnTo>
                    <a:pt x="888" y="192"/>
                  </a:lnTo>
                  <a:lnTo>
                    <a:pt x="952" y="160"/>
                  </a:lnTo>
                  <a:lnTo>
                    <a:pt x="1018" y="130"/>
                  </a:lnTo>
                  <a:lnTo>
                    <a:pt x="1085" y="104"/>
                  </a:lnTo>
                  <a:lnTo>
                    <a:pt x="1153" y="80"/>
                  </a:lnTo>
                  <a:lnTo>
                    <a:pt x="1223" y="59"/>
                  </a:lnTo>
                  <a:lnTo>
                    <a:pt x="1294" y="41"/>
                  </a:lnTo>
                  <a:lnTo>
                    <a:pt x="1367" y="26"/>
                  </a:lnTo>
                  <a:lnTo>
                    <a:pt x="1440" y="15"/>
                  </a:lnTo>
                  <a:lnTo>
                    <a:pt x="1514" y="6"/>
                  </a:lnTo>
                  <a:lnTo>
                    <a:pt x="1590" y="1"/>
                  </a:lnTo>
                  <a:lnTo>
                    <a:pt x="1666" y="0"/>
                  </a:lnTo>
                  <a:lnTo>
                    <a:pt x="1666" y="416"/>
                  </a:lnTo>
                  <a:lnTo>
                    <a:pt x="1590" y="418"/>
                  </a:lnTo>
                  <a:lnTo>
                    <a:pt x="1515" y="425"/>
                  </a:lnTo>
                  <a:lnTo>
                    <a:pt x="1441" y="436"/>
                  </a:lnTo>
                  <a:lnTo>
                    <a:pt x="1369" y="451"/>
                  </a:lnTo>
                  <a:lnTo>
                    <a:pt x="1299" y="471"/>
                  </a:lnTo>
                  <a:lnTo>
                    <a:pt x="1230" y="494"/>
                  </a:lnTo>
                  <a:lnTo>
                    <a:pt x="1163" y="521"/>
                  </a:lnTo>
                  <a:lnTo>
                    <a:pt x="1098" y="552"/>
                  </a:lnTo>
                  <a:lnTo>
                    <a:pt x="1035" y="586"/>
                  </a:lnTo>
                  <a:lnTo>
                    <a:pt x="975" y="624"/>
                  </a:lnTo>
                  <a:lnTo>
                    <a:pt x="917" y="665"/>
                  </a:lnTo>
                  <a:lnTo>
                    <a:pt x="861" y="710"/>
                  </a:lnTo>
                  <a:lnTo>
                    <a:pt x="808" y="757"/>
                  </a:lnTo>
                  <a:lnTo>
                    <a:pt x="758" y="807"/>
                  </a:lnTo>
                  <a:lnTo>
                    <a:pt x="710" y="860"/>
                  </a:lnTo>
                  <a:lnTo>
                    <a:pt x="666" y="916"/>
                  </a:lnTo>
                  <a:lnTo>
                    <a:pt x="625" y="974"/>
                  </a:lnTo>
                  <a:lnTo>
                    <a:pt x="587" y="1035"/>
                  </a:lnTo>
                  <a:lnTo>
                    <a:pt x="553" y="1098"/>
                  </a:lnTo>
                  <a:lnTo>
                    <a:pt x="522" y="1162"/>
                  </a:lnTo>
                  <a:lnTo>
                    <a:pt x="495" y="1229"/>
                  </a:lnTo>
                  <a:lnTo>
                    <a:pt x="471" y="1298"/>
                  </a:lnTo>
                  <a:lnTo>
                    <a:pt x="452" y="1369"/>
                  </a:lnTo>
                  <a:lnTo>
                    <a:pt x="437" y="1441"/>
                  </a:lnTo>
                  <a:lnTo>
                    <a:pt x="426" y="1514"/>
                  </a:lnTo>
                  <a:lnTo>
                    <a:pt x="419" y="1589"/>
                  </a:lnTo>
                  <a:lnTo>
                    <a:pt x="417" y="1665"/>
                  </a:lnTo>
                  <a:lnTo>
                    <a:pt x="419" y="1741"/>
                  </a:lnTo>
                  <a:lnTo>
                    <a:pt x="426" y="1816"/>
                  </a:lnTo>
                  <a:lnTo>
                    <a:pt x="437" y="1890"/>
                  </a:lnTo>
                  <a:lnTo>
                    <a:pt x="452" y="1962"/>
                  </a:lnTo>
                  <a:lnTo>
                    <a:pt x="471" y="2032"/>
                  </a:lnTo>
                  <a:lnTo>
                    <a:pt x="495" y="2101"/>
                  </a:lnTo>
                  <a:lnTo>
                    <a:pt x="522" y="2168"/>
                  </a:lnTo>
                  <a:lnTo>
                    <a:pt x="553" y="2233"/>
                  </a:lnTo>
                  <a:lnTo>
                    <a:pt x="587" y="2296"/>
                  </a:lnTo>
                  <a:lnTo>
                    <a:pt x="625" y="2356"/>
                  </a:lnTo>
                  <a:lnTo>
                    <a:pt x="666" y="2415"/>
                  </a:lnTo>
                  <a:lnTo>
                    <a:pt x="710" y="2470"/>
                  </a:lnTo>
                  <a:lnTo>
                    <a:pt x="758" y="2523"/>
                  </a:lnTo>
                  <a:lnTo>
                    <a:pt x="808" y="2574"/>
                  </a:lnTo>
                  <a:lnTo>
                    <a:pt x="861" y="2621"/>
                  </a:lnTo>
                  <a:lnTo>
                    <a:pt x="917" y="2665"/>
                  </a:lnTo>
                  <a:lnTo>
                    <a:pt x="975" y="2706"/>
                  </a:lnTo>
                  <a:lnTo>
                    <a:pt x="1035" y="2744"/>
                  </a:lnTo>
                  <a:lnTo>
                    <a:pt x="1098" y="2779"/>
                  </a:lnTo>
                  <a:lnTo>
                    <a:pt x="1163" y="2809"/>
                  </a:lnTo>
                  <a:lnTo>
                    <a:pt x="1230" y="2837"/>
                  </a:lnTo>
                  <a:lnTo>
                    <a:pt x="1299" y="2860"/>
                  </a:lnTo>
                  <a:lnTo>
                    <a:pt x="1369" y="2879"/>
                  </a:lnTo>
                  <a:lnTo>
                    <a:pt x="1441" y="2895"/>
                  </a:lnTo>
                  <a:lnTo>
                    <a:pt x="1515" y="2906"/>
                  </a:lnTo>
                  <a:lnTo>
                    <a:pt x="1590" y="2912"/>
                  </a:lnTo>
                  <a:lnTo>
                    <a:pt x="1666" y="2915"/>
                  </a:lnTo>
                  <a:lnTo>
                    <a:pt x="1666" y="3331"/>
                  </a:lnTo>
                  <a:close/>
                </a:path>
              </a:pathLst>
            </a:custGeom>
            <a:noFill/>
            <a:ln w="19050">
              <a:solidFill>
                <a:srgbClr val="FFFFFF"/>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2097" name="Rectangle 49"/>
            <p:cNvSpPr>
              <a:spLocks noChangeArrowheads="1"/>
            </p:cNvSpPr>
            <p:nvPr/>
          </p:nvSpPr>
          <p:spPr bwMode="auto">
            <a:xfrm>
              <a:off x="3895" y="4761"/>
              <a:ext cx="99" cy="99"/>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98" name="Rectangle 50"/>
            <p:cNvSpPr>
              <a:spLocks noChangeArrowheads="1"/>
            </p:cNvSpPr>
            <p:nvPr/>
          </p:nvSpPr>
          <p:spPr bwMode="auto">
            <a:xfrm>
              <a:off x="5310" y="4761"/>
              <a:ext cx="99" cy="99"/>
            </a:xfrm>
            <a:prstGeom prst="rect">
              <a:avLst/>
            </a:prstGeom>
            <a:solidFill>
              <a:srgbClr val="EC7C3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099" name="Rectangle 51"/>
            <p:cNvSpPr>
              <a:spLocks noChangeArrowheads="1"/>
            </p:cNvSpPr>
            <p:nvPr/>
          </p:nvSpPr>
          <p:spPr bwMode="auto">
            <a:xfrm>
              <a:off x="6724" y="4761"/>
              <a:ext cx="99" cy="99"/>
            </a:xfrm>
            <a:prstGeom prst="rect">
              <a:avLst/>
            </a:prstGeom>
            <a:solidFill>
              <a:srgbClr val="A4A4A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0" name="Rectangle 52"/>
            <p:cNvSpPr>
              <a:spLocks noChangeArrowheads="1"/>
            </p:cNvSpPr>
            <p:nvPr/>
          </p:nvSpPr>
          <p:spPr bwMode="auto">
            <a:xfrm>
              <a:off x="3895" y="5098"/>
              <a:ext cx="99" cy="99"/>
            </a:xfrm>
            <a:prstGeom prst="rect">
              <a:avLst/>
            </a:prstGeom>
            <a:solidFill>
              <a:srgbClr val="FFC000"/>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1" name="Rectangle 53"/>
            <p:cNvSpPr>
              <a:spLocks noChangeArrowheads="1"/>
            </p:cNvSpPr>
            <p:nvPr/>
          </p:nvSpPr>
          <p:spPr bwMode="auto">
            <a:xfrm>
              <a:off x="5310" y="5098"/>
              <a:ext cx="99" cy="99"/>
            </a:xfrm>
            <a:prstGeom prst="rect">
              <a:avLst/>
            </a:prstGeom>
            <a:solidFill>
              <a:srgbClr val="5B9BD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2" name="Rectangle 54"/>
            <p:cNvSpPr>
              <a:spLocks noChangeArrowheads="1"/>
            </p:cNvSpPr>
            <p:nvPr/>
          </p:nvSpPr>
          <p:spPr bwMode="auto">
            <a:xfrm>
              <a:off x="6724" y="5098"/>
              <a:ext cx="99" cy="99"/>
            </a:xfrm>
            <a:prstGeom prst="rect">
              <a:avLst/>
            </a:prstGeom>
            <a:solidFill>
              <a:srgbClr val="6FAC46"/>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3" name="Rectangle 55"/>
            <p:cNvSpPr>
              <a:spLocks noChangeArrowheads="1"/>
            </p:cNvSpPr>
            <p:nvPr/>
          </p:nvSpPr>
          <p:spPr bwMode="auto">
            <a:xfrm>
              <a:off x="3895" y="5436"/>
              <a:ext cx="99" cy="99"/>
            </a:xfrm>
            <a:prstGeom prst="rect">
              <a:avLst/>
            </a:prstGeom>
            <a:solidFill>
              <a:srgbClr val="254478"/>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4" name="Rectangle 56"/>
            <p:cNvSpPr>
              <a:spLocks noChangeArrowheads="1"/>
            </p:cNvSpPr>
            <p:nvPr/>
          </p:nvSpPr>
          <p:spPr bwMode="auto">
            <a:xfrm>
              <a:off x="5310" y="5436"/>
              <a:ext cx="99" cy="99"/>
            </a:xfrm>
            <a:prstGeom prst="rect">
              <a:avLst/>
            </a:prstGeom>
            <a:solidFill>
              <a:srgbClr val="9E470D"/>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5" name="Rectangle 57"/>
            <p:cNvSpPr>
              <a:spLocks noChangeArrowheads="1"/>
            </p:cNvSpPr>
            <p:nvPr/>
          </p:nvSpPr>
          <p:spPr bwMode="auto">
            <a:xfrm>
              <a:off x="6724" y="5436"/>
              <a:ext cx="99" cy="99"/>
            </a:xfrm>
            <a:prstGeom prst="rect">
              <a:avLst/>
            </a:prstGeom>
            <a:solidFill>
              <a:srgbClr val="626262"/>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6" name="Rectangle 58"/>
            <p:cNvSpPr>
              <a:spLocks noChangeArrowheads="1"/>
            </p:cNvSpPr>
            <p:nvPr/>
          </p:nvSpPr>
          <p:spPr bwMode="auto">
            <a:xfrm>
              <a:off x="2353" y="368"/>
              <a:ext cx="7200" cy="5376"/>
            </a:xfrm>
            <a:prstGeom prst="rect">
              <a:avLst/>
            </a:prstGeom>
            <a:noFill/>
            <a:ln w="9525">
              <a:solidFill>
                <a:srgbClr val="D9D9D9"/>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2107" name="Text Box 59"/>
            <p:cNvSpPr txBox="1">
              <a:spLocks noChangeArrowheads="1"/>
            </p:cNvSpPr>
            <p:nvPr/>
          </p:nvSpPr>
          <p:spPr bwMode="auto">
            <a:xfrm>
              <a:off x="4912" y="530"/>
              <a:ext cx="2102" cy="31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124000"/>
                </a:lnSpc>
                <a:spcBef>
                  <a:spcPct val="0"/>
                </a:spcBef>
                <a:spcAft>
                  <a:spcPts val="1000"/>
                </a:spcAft>
                <a:buClrTx/>
                <a:buSzTx/>
                <a:buFontTx/>
                <a:buNone/>
                <a:tabLst/>
              </a:pPr>
              <a:r>
                <a:rPr kumimoji="0" lang="en-US" sz="1400" b="0" i="0" u="none" strike="noStrike" cap="none" normalizeH="0" baseline="0" smtClean="0">
                  <a:ln>
                    <a:noFill/>
                  </a:ln>
                  <a:solidFill>
                    <a:schemeClr val="tx1"/>
                  </a:solidFill>
                  <a:effectLst/>
                  <a:latin typeface="Calibri" pitchFamily="34" charset="0"/>
                  <a:ea typeface="Arial" pitchFamily="34" charset="0"/>
                  <a:cs typeface="Arial" pitchFamily="34" charset="0"/>
                </a:rPr>
                <a:t>Factors influenced</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2108" name="Text Box 60"/>
            <p:cNvSpPr txBox="1">
              <a:spLocks noChangeArrowheads="1"/>
            </p:cNvSpPr>
            <p:nvPr/>
          </p:nvSpPr>
          <p:spPr bwMode="auto">
            <a:xfrm>
              <a:off x="4036" y="4727"/>
              <a:ext cx="384"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FFFFFF"/>
                  </a:solidFill>
                  <a:effectLst/>
                  <a:latin typeface="Calibri" pitchFamily="34" charset="0"/>
                  <a:ea typeface="Arial" pitchFamily="34" charset="0"/>
                  <a:cs typeface="Arial" pitchFamily="34" charset="0"/>
                </a:rPr>
                <a:t>Price</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2109" name="Text Box 61"/>
            <p:cNvSpPr txBox="1">
              <a:spLocks noChangeArrowheads="1"/>
            </p:cNvSpPr>
            <p:nvPr/>
          </p:nvSpPr>
          <p:spPr bwMode="auto">
            <a:xfrm>
              <a:off x="5451" y="4727"/>
              <a:ext cx="456"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FFFFFF"/>
                  </a:solidFill>
                  <a:effectLst/>
                  <a:latin typeface="Calibri" pitchFamily="34" charset="0"/>
                  <a:ea typeface="Arial" pitchFamily="34" charset="0"/>
                  <a:cs typeface="Arial" pitchFamily="34" charset="0"/>
                </a:rPr>
                <a:t>Brand</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2110" name="Text Box 62"/>
            <p:cNvSpPr txBox="1">
              <a:spLocks noChangeArrowheads="1"/>
            </p:cNvSpPr>
            <p:nvPr/>
          </p:nvSpPr>
          <p:spPr bwMode="auto">
            <a:xfrm>
              <a:off x="6866" y="4727"/>
              <a:ext cx="410"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FFFFFF"/>
                  </a:solidFill>
                  <a:effectLst/>
                  <a:latin typeface="Calibri" pitchFamily="34" charset="0"/>
                  <a:ea typeface="Arial" pitchFamily="34" charset="0"/>
                  <a:cs typeface="Arial" pitchFamily="34" charset="0"/>
                </a:rPr>
                <a:t>Color</a:t>
              </a:r>
              <a:endParaRPr kumimoji="0" lang="en-US" b="0" i="0" u="none" strike="noStrike" cap="none" normalizeH="0" baseline="0" smtClean="0">
                <a:ln>
                  <a:noFill/>
                </a:ln>
                <a:solidFill>
                  <a:schemeClr val="tx1"/>
                </a:solidFill>
                <a:effectLst/>
                <a:latin typeface="Arial" pitchFamily="34" charset="0"/>
                <a:cs typeface="Arial" pitchFamily="34" charset="0"/>
              </a:endParaRPr>
            </a:p>
          </p:txBody>
        </p:sp>
        <p:sp>
          <p:nvSpPr>
            <p:cNvPr id="2111" name="Text Box 63"/>
            <p:cNvSpPr txBox="1">
              <a:spLocks noChangeArrowheads="1"/>
            </p:cNvSpPr>
            <p:nvPr/>
          </p:nvSpPr>
          <p:spPr bwMode="auto">
            <a:xfrm>
              <a:off x="4036" y="5064"/>
              <a:ext cx="3221" cy="51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3000"/>
                </a:lnSpc>
                <a:spcBef>
                  <a:spcPct val="0"/>
                </a:spcBef>
                <a:spcAft>
                  <a:spcPts val="1000"/>
                </a:spcAft>
                <a:buClrTx/>
                <a:buSzTx/>
                <a:buFontTx/>
                <a:buNone/>
                <a:tabLst/>
              </a:pPr>
              <a:r>
                <a:rPr kumimoji="0" lang="en-US" sz="900" b="0" i="0" u="none" strike="noStrike" cap="none" normalizeH="0" baseline="0" dirty="0" smtClean="0">
                  <a:ln>
                    <a:noFill/>
                  </a:ln>
                  <a:solidFill>
                    <a:srgbClr val="FFFFFF"/>
                  </a:solidFill>
                  <a:effectLst/>
                  <a:latin typeface="Calibri" pitchFamily="34" charset="0"/>
                  <a:ea typeface="Arial" pitchFamily="34" charset="0"/>
                  <a:cs typeface="Arial" pitchFamily="34" charset="0"/>
                </a:rPr>
                <a:t>Design	    Features</a:t>
              </a:r>
            </a:p>
            <a:p>
              <a:pPr marL="0" marR="0" lvl="0" indent="0" algn="l" defTabSz="914400" rtl="0" eaLnBrk="1" fontAlgn="base" latinLnBrk="0" hangingPunct="1">
                <a:lnSpc>
                  <a:spcPct val="86000"/>
                </a:lnSpc>
                <a:spcBef>
                  <a:spcPts val="575"/>
                </a:spcBef>
                <a:spcAft>
                  <a:spcPts val="1000"/>
                </a:spcAft>
                <a:buClrTx/>
                <a:buSzTx/>
                <a:buFontTx/>
                <a:buNone/>
                <a:tabLst/>
              </a:pPr>
              <a:r>
                <a:rPr kumimoji="0" lang="en-US" sz="900" b="0" i="0" u="none" strike="noStrike" cap="none" normalizeH="0" baseline="0" dirty="0" smtClean="0">
                  <a:ln>
                    <a:noFill/>
                  </a:ln>
                  <a:solidFill>
                    <a:srgbClr val="FFFFFF"/>
                  </a:solidFill>
                  <a:effectLst/>
                  <a:latin typeface="Calibri" pitchFamily="34" charset="0"/>
                  <a:ea typeface="Arial" pitchFamily="34" charset="0"/>
                  <a:cs typeface="Arial" pitchFamily="34" charset="0"/>
                </a:rPr>
                <a:t>Users Friendly	Family &amp; Friends    </a:t>
              </a:r>
              <a:endParaRPr kumimoji="0" lang="en-US" b="0" i="0" u="none" strike="noStrike" cap="none" normalizeH="0" baseline="0" dirty="0" smtClean="0">
                <a:ln>
                  <a:noFill/>
                </a:ln>
                <a:solidFill>
                  <a:schemeClr val="tx1"/>
                </a:solidFill>
                <a:effectLst/>
                <a:latin typeface="Arial" pitchFamily="34" charset="0"/>
                <a:cs typeface="Arial" pitchFamily="34" charset="0"/>
              </a:endParaRPr>
            </a:p>
          </p:txBody>
        </p:sp>
      </p:grpSp>
      <p:sp>
        <p:nvSpPr>
          <p:cNvPr id="69" name="Rectangle 68"/>
          <p:cNvSpPr/>
          <p:nvPr/>
        </p:nvSpPr>
        <p:spPr>
          <a:xfrm>
            <a:off x="477563" y="5813363"/>
            <a:ext cx="1454244" cy="369332"/>
          </a:xfrm>
          <a:prstGeom prst="rect">
            <a:avLst/>
          </a:prstGeom>
        </p:spPr>
        <p:txBody>
          <a:bodyPr wrap="none">
            <a:spAutoFit/>
          </a:bodyPr>
          <a:lstStyle/>
          <a:p>
            <a:r>
              <a:rPr lang="en-US" u="sng" dirty="0" smtClean="0">
                <a:latin typeface="Times New Roman" panose="02020603050405020304" pitchFamily="18" charset="0"/>
                <a:cs typeface="Times New Roman" panose="02020603050405020304" pitchFamily="18" charset="0"/>
              </a:rPr>
              <a:t>INFERENCE</a:t>
            </a:r>
            <a:endParaRPr lang="en-US" dirty="0"/>
          </a:p>
        </p:txBody>
      </p:sp>
      <p:sp>
        <p:nvSpPr>
          <p:cNvPr id="70" name="Rectangle 69"/>
          <p:cNvSpPr/>
          <p:nvPr/>
        </p:nvSpPr>
        <p:spPr>
          <a:xfrm>
            <a:off x="624134" y="6226183"/>
            <a:ext cx="6734628" cy="369332"/>
          </a:xfrm>
          <a:prstGeom prst="rect">
            <a:avLst/>
          </a:prstGeom>
        </p:spPr>
        <p:txBody>
          <a:bodyPr wrap="square">
            <a:spAutoFit/>
          </a:bodyPr>
          <a:lstStyle/>
          <a:p>
            <a:pPr algn="ctr"/>
            <a:r>
              <a:rPr lang="en-US" dirty="0" smtClean="0">
                <a:latin typeface="Times New Roman" panose="02020603050405020304" pitchFamily="18" charset="0"/>
                <a:cs typeface="Times New Roman" panose="02020603050405020304" pitchFamily="18" charset="0"/>
              </a:rPr>
              <a:t>Majority 26% of the respondents are influenced by features.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93900676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942823" y="232228"/>
            <a:ext cx="10353761" cy="1326321"/>
          </a:xfrm>
        </p:spPr>
        <p:txBody>
          <a:bodyPr>
            <a:normAutofit/>
          </a:bodyPr>
          <a:lstStyle/>
          <a:p>
            <a:r>
              <a:rPr lang="en-IN" sz="2800" dirty="0" smtClean="0">
                <a:latin typeface="Times New Roman" panose="02020603050405020304" pitchFamily="18" charset="0"/>
                <a:cs typeface="Times New Roman" panose="02020603050405020304" pitchFamily="18" charset="0"/>
              </a:rPr>
              <a:t>Preference to use while using internet on your mobile phone</a:t>
            </a:r>
            <a:endParaRPr lang="en-IN" sz="2800" dirty="0">
              <a:latin typeface="Times New Roman" panose="02020603050405020304" pitchFamily="18" charset="0"/>
              <a:cs typeface="Times New Roman" panose="02020603050405020304" pitchFamily="18" charset="0"/>
            </a:endParaRPr>
          </a:p>
        </p:txBody>
      </p:sp>
      <p:sp>
        <p:nvSpPr>
          <p:cNvPr id="4" name="Snip Same Side Corner Rectangle 3"/>
          <p:cNvSpPr/>
          <p:nvPr/>
        </p:nvSpPr>
        <p:spPr>
          <a:xfrm>
            <a:off x="372892" y="1505934"/>
            <a:ext cx="11514308" cy="4192622"/>
          </a:xfrm>
          <a:prstGeom prst="snip2SameRect">
            <a:avLst/>
          </a:prstGeom>
          <a:gradFill>
            <a:gsLst>
              <a:gs pos="0">
                <a:schemeClr val="dk1">
                  <a:tint val="94000"/>
                  <a:satMod val="100000"/>
                  <a:lumMod val="104000"/>
                </a:schemeClr>
              </a:gs>
              <a:gs pos="69000">
                <a:schemeClr val="dk1">
                  <a:shade val="86000"/>
                  <a:satMod val="130000"/>
                  <a:lumMod val="102000"/>
                </a:schemeClr>
              </a:gs>
              <a:gs pos="100000">
                <a:schemeClr val="dk1">
                  <a:shade val="72000"/>
                  <a:satMod val="130000"/>
                  <a:lumMod val="100000"/>
                </a:schemeClr>
              </a:gs>
            </a:gsLst>
            <a:lin ang="5400000" scaled="0"/>
          </a:gra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a:p>
        </p:txBody>
      </p:sp>
      <p:graphicFrame>
        <p:nvGraphicFramePr>
          <p:cNvPr id="5" name="Content Placeholder 3"/>
          <p:cNvGraphicFramePr>
            <a:graphicFrameLocks/>
          </p:cNvGraphicFramePr>
          <p:nvPr>
            <p:extLst>
              <p:ext uri="{D42A27DB-BD31-4B8C-83A1-F6EECF244321}">
                <p14:modId xmlns="" xmlns:p14="http://schemas.microsoft.com/office/powerpoint/2010/main" val="3269275907"/>
              </p:ext>
            </p:extLst>
          </p:nvPr>
        </p:nvGraphicFramePr>
        <p:xfrm>
          <a:off x="622064" y="1901372"/>
          <a:ext cx="6272222" cy="3478894"/>
        </p:xfrm>
        <a:graphic>
          <a:graphicData uri="http://schemas.openxmlformats.org/drawingml/2006/table">
            <a:tbl>
              <a:tblPr firstRow="1" firstCol="1" lastRow="1" lastCol="1" bandRow="1" bandCol="1">
                <a:tableStyleId>{D03447BB-5D67-496B-8E87-E561075AD55C}</a:tableStyleId>
              </a:tblPr>
              <a:tblGrid>
                <a:gridCol w="1568925"/>
                <a:gridCol w="1668096"/>
                <a:gridCol w="1556979"/>
                <a:gridCol w="1478222"/>
              </a:tblGrid>
              <a:tr h="764002">
                <a:tc>
                  <a:txBody>
                    <a:bodyPr/>
                    <a:lstStyle/>
                    <a:p>
                      <a:pPr algn="l">
                        <a:spcBef>
                          <a:spcPts val="15"/>
                        </a:spcBef>
                        <a:spcAft>
                          <a:spcPts val="0"/>
                        </a:spcAft>
                      </a:pPr>
                      <a:r>
                        <a:rPr lang="en-US" sz="2100" dirty="0">
                          <a:effectLst/>
                        </a:rPr>
                        <a:t> </a:t>
                      </a:r>
                      <a:endParaRPr lang="en-IN" sz="1100" dirty="0">
                        <a:effectLst/>
                      </a:endParaRPr>
                    </a:p>
                    <a:p>
                      <a:pPr marL="488950" algn="l">
                        <a:spcBef>
                          <a:spcPts val="15"/>
                        </a:spcBef>
                        <a:spcAft>
                          <a:spcPts val="0"/>
                        </a:spcAft>
                      </a:pPr>
                      <a:r>
                        <a:rPr lang="en-US" sz="1400" dirty="0">
                          <a:effectLst/>
                        </a:rPr>
                        <a:t>S.</a:t>
                      </a:r>
                      <a:r>
                        <a:rPr lang="en-US" sz="1400" spc="-10" dirty="0">
                          <a:effectLst/>
                        </a:rPr>
                        <a:t> </a:t>
                      </a:r>
                      <a:r>
                        <a:rPr lang="en-US" sz="1400" dirty="0" smtClean="0">
                          <a:effectLst/>
                        </a:rPr>
                        <a:t>NO</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endParaRPr lang="en-IN" sz="1100" dirty="0">
                        <a:effectLst/>
                      </a:endParaRPr>
                    </a:p>
                    <a:p>
                      <a:pPr marL="55880" marR="55245" algn="ctr">
                        <a:spcBef>
                          <a:spcPts val="15"/>
                        </a:spcBef>
                        <a:spcAft>
                          <a:spcPts val="0"/>
                        </a:spcAft>
                      </a:pPr>
                      <a:r>
                        <a:rPr lang="en-US" sz="1400" baseline="0" dirty="0" smtClean="0">
                          <a:effectLst/>
                          <a:latin typeface="+mn-lt"/>
                          <a:ea typeface="+mn-ea"/>
                          <a:cs typeface="+mn-cs"/>
                        </a:rPr>
                        <a:t> PARTICULARS</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US" sz="1400" dirty="0">
                          <a:effectLst/>
                        </a:rPr>
                        <a:t>NO OF</a:t>
                      </a:r>
                      <a:endParaRPr lang="en-IN" sz="1100" dirty="0">
                        <a:effectLst/>
                      </a:endParaRPr>
                    </a:p>
                    <a:p>
                      <a:pPr marL="52705" marR="52705" algn="ctr">
                        <a:spcBef>
                          <a:spcPts val="790"/>
                        </a:spcBef>
                        <a:spcAft>
                          <a:spcPts val="0"/>
                        </a:spcAft>
                      </a:pPr>
                      <a:r>
                        <a:rPr lang="en-US" sz="1400" dirty="0">
                          <a:effectLst/>
                        </a:rPr>
                        <a:t>RESPONDENTS</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2100" dirty="0">
                          <a:effectLst/>
                        </a:rPr>
                        <a:t> </a:t>
                      </a:r>
                      <a:endParaRPr lang="en-IN" sz="1100" dirty="0">
                        <a:effectLst/>
                      </a:endParaRPr>
                    </a:p>
                    <a:p>
                      <a:pPr marL="40005" marR="92075" algn="ctr">
                        <a:spcBef>
                          <a:spcPts val="15"/>
                        </a:spcBef>
                        <a:spcAft>
                          <a:spcPts val="0"/>
                        </a:spcAft>
                      </a:pPr>
                      <a:r>
                        <a:rPr lang="en-US" sz="1400" dirty="0">
                          <a:effectLst/>
                        </a:rPr>
                        <a:t>PERCENTAGE</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72189">
                <a:tc>
                  <a:txBody>
                    <a:bodyPr/>
                    <a:lstStyle/>
                    <a:p>
                      <a:pPr marL="9525" algn="ctr">
                        <a:spcBef>
                          <a:spcPts val="15"/>
                        </a:spcBef>
                        <a:spcAft>
                          <a:spcPts val="0"/>
                        </a:spcAft>
                      </a:pPr>
                      <a:r>
                        <a:rPr lang="en-US" sz="1400" dirty="0">
                          <a:effectLst/>
                        </a:rPr>
                        <a:t>1</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mn-lt"/>
                          <a:ea typeface="+mn-ea"/>
                          <a:cs typeface="+mn-cs"/>
                        </a:rPr>
                        <a:t>ENTERTAINMENT</a:t>
                      </a:r>
                      <a:endParaRPr lang="en-US" sz="1400" dirty="0" smtClean="0">
                        <a:effectLst/>
                        <a:latin typeface="+mn-lt"/>
                        <a:ea typeface="+mn-ea"/>
                        <a:cs typeface="+mn-cs"/>
                      </a:endParaRPr>
                    </a:p>
                    <a:p>
                      <a:pPr marL="55880" marR="57785" algn="ctr">
                        <a:spcBef>
                          <a:spcPts val="15"/>
                        </a:spcBef>
                        <a:spcAft>
                          <a:spcPts val="0"/>
                        </a:spcAft>
                      </a:pP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US" sz="1400" dirty="0" smtClean="0">
                          <a:effectLst/>
                          <a:latin typeface="+mn-lt"/>
                          <a:ea typeface="+mn-ea"/>
                          <a:cs typeface="+mn-cs"/>
                        </a:rPr>
                        <a:t>15</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9525" algn="ctr">
                        <a:spcBef>
                          <a:spcPts val="15"/>
                        </a:spcBef>
                        <a:spcAft>
                          <a:spcPts val="0"/>
                        </a:spcAft>
                      </a:pPr>
                      <a:r>
                        <a:rPr lang="en-US" sz="1400" dirty="0" smtClean="0">
                          <a:effectLst/>
                        </a:rPr>
                        <a:t>30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72189">
                <a:tc>
                  <a:txBody>
                    <a:bodyPr/>
                    <a:lstStyle/>
                    <a:p>
                      <a:pPr marL="9525" algn="ctr">
                        <a:spcBef>
                          <a:spcPts val="5"/>
                        </a:spcBef>
                        <a:spcAft>
                          <a:spcPts val="0"/>
                        </a:spcAft>
                      </a:pPr>
                      <a:r>
                        <a:rPr lang="en-US" sz="1400" dirty="0">
                          <a:effectLst/>
                        </a:rPr>
                        <a:t>2</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5"/>
                        </a:spcBef>
                        <a:spcAft>
                          <a:spcPts val="0"/>
                        </a:spcAft>
                      </a:pPr>
                      <a:r>
                        <a:rPr lang="en-IN" sz="1400" dirty="0" smtClean="0">
                          <a:effectLst/>
                          <a:latin typeface="+mn-lt"/>
                          <a:ea typeface="+mn-ea"/>
                          <a:cs typeface="+mn-cs"/>
                        </a:rPr>
                        <a:t>STUDY</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5"/>
                        </a:spcBef>
                        <a:spcAft>
                          <a:spcPts val="0"/>
                        </a:spcAft>
                      </a:pPr>
                      <a:r>
                        <a:rPr lang="en-US" sz="1400" dirty="0" smtClean="0">
                          <a:effectLst/>
                        </a:rPr>
                        <a:t>2O</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5"/>
                        </a:spcBef>
                        <a:spcAft>
                          <a:spcPts val="0"/>
                        </a:spcAft>
                      </a:pPr>
                      <a:r>
                        <a:rPr lang="en-US" sz="1400" dirty="0" smtClean="0">
                          <a:effectLst/>
                        </a:rPr>
                        <a:t>40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97860">
                <a:tc>
                  <a:txBody>
                    <a:bodyPr/>
                    <a:lstStyle/>
                    <a:p>
                      <a:pPr marL="9525" algn="ctr">
                        <a:spcBef>
                          <a:spcPts val="15"/>
                        </a:spcBef>
                        <a:spcAft>
                          <a:spcPts val="0"/>
                        </a:spcAft>
                      </a:pPr>
                      <a:r>
                        <a:rPr lang="en-US" sz="1400" dirty="0">
                          <a:effectLst/>
                        </a:rPr>
                        <a:t>3</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BUSINESS</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US" sz="1400" dirty="0" smtClean="0">
                          <a:effectLst/>
                          <a:latin typeface="+mn-lt"/>
                          <a:ea typeface="+mn-ea"/>
                          <a:cs typeface="+mn-cs"/>
                        </a:rPr>
                        <a:t>16</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522753">
                <a:tc>
                  <a:txBody>
                    <a:bodyPr/>
                    <a:lstStyle/>
                    <a:p>
                      <a:pPr marL="9525" algn="ctr">
                        <a:spcBef>
                          <a:spcPts val="15"/>
                        </a:spcBef>
                        <a:spcAft>
                          <a:spcPts val="0"/>
                        </a:spcAft>
                      </a:pPr>
                      <a:r>
                        <a:rPr lang="en-US" sz="1400" dirty="0" smtClean="0">
                          <a:effectLst/>
                          <a:latin typeface="+mn-lt"/>
                          <a:ea typeface="+mn-ea"/>
                          <a:cs typeface="+mn-cs"/>
                        </a:rPr>
                        <a:t>4</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IMPROVE</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KNOWLEDGE</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US" sz="1400" dirty="0" smtClean="0">
                          <a:effectLst/>
                        </a:rPr>
                        <a:t>7</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US" sz="1400" dirty="0" smtClean="0">
                          <a:effectLst/>
                        </a:rPr>
                        <a:t>14</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749901">
                <a:tc gridSpan="2">
                  <a:txBody>
                    <a:bodyPr/>
                    <a:lstStyle/>
                    <a:p>
                      <a:pPr algn="l">
                        <a:spcBef>
                          <a:spcPts val="15"/>
                        </a:spcBef>
                        <a:spcAft>
                          <a:spcPts val="0"/>
                        </a:spcAft>
                      </a:pPr>
                      <a:r>
                        <a:rPr lang="en-US" sz="2100" dirty="0">
                          <a:effectLst/>
                        </a:rPr>
                        <a:t> </a:t>
                      </a:r>
                      <a:endParaRPr lang="en-IN" sz="1100" dirty="0">
                        <a:effectLst/>
                      </a:endParaRPr>
                    </a:p>
                    <a:p>
                      <a:pPr marL="1106805" marR="1102995" algn="ctr">
                        <a:spcBef>
                          <a:spcPts val="5"/>
                        </a:spcBef>
                        <a:spcAft>
                          <a:spcPts val="0"/>
                        </a:spcAft>
                      </a:pPr>
                      <a:r>
                        <a:rPr lang="en-US" sz="1400" dirty="0">
                          <a:effectLst/>
                        </a:rPr>
                        <a:t>TOTAL</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hMerge="1">
                  <a:txBody>
                    <a:bodyPr/>
                    <a:lstStyle/>
                    <a:p>
                      <a:endParaRPr lang="en-IN"/>
                    </a:p>
                  </a:txBody>
                  <a:tcPr/>
                </a:tc>
                <a:tc>
                  <a:txBody>
                    <a:bodyPr/>
                    <a:lstStyle/>
                    <a:p>
                      <a:pPr algn="l">
                        <a:spcBef>
                          <a:spcPts val="15"/>
                        </a:spcBef>
                        <a:spcAft>
                          <a:spcPts val="0"/>
                        </a:spcAft>
                      </a:pPr>
                      <a:r>
                        <a:rPr lang="en-US" sz="2100">
                          <a:effectLst/>
                        </a:rPr>
                        <a:t> </a:t>
                      </a:r>
                      <a:endParaRPr lang="en-IN" sz="1100">
                        <a:effectLst/>
                      </a:endParaRPr>
                    </a:p>
                    <a:p>
                      <a:pPr marL="52705" marR="46355" algn="ctr">
                        <a:spcBef>
                          <a:spcPts val="5"/>
                        </a:spcBef>
                        <a:spcAft>
                          <a:spcPts val="0"/>
                        </a:spcAft>
                      </a:pPr>
                      <a:r>
                        <a:rPr lang="en-US" sz="1400">
                          <a:effectLst/>
                        </a:rPr>
                        <a:t>50</a:t>
                      </a:r>
                      <a:endParaRPr lang="en-IN" sz="11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2100" dirty="0">
                          <a:effectLst/>
                        </a:rPr>
                        <a:t> </a:t>
                      </a:r>
                      <a:endParaRPr lang="en-IN" sz="1100" dirty="0">
                        <a:effectLst/>
                      </a:endParaRPr>
                    </a:p>
                    <a:p>
                      <a:pPr marL="55880" marR="46355" algn="ctr">
                        <a:spcBef>
                          <a:spcPts val="5"/>
                        </a:spcBef>
                        <a:spcAft>
                          <a:spcPts val="0"/>
                        </a:spcAft>
                      </a:pPr>
                      <a:r>
                        <a:rPr lang="en-US" sz="1400" dirty="0">
                          <a:effectLst/>
                        </a:rPr>
                        <a:t>100</a:t>
                      </a:r>
                      <a:endParaRPr lang="en-IN" sz="11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bl>
          </a:graphicData>
        </a:graphic>
      </p:graphicFrame>
      <p:pic>
        <p:nvPicPr>
          <p:cNvPr id="7" name="image12.jpeg" descr="IMG-20240321-WA0054.jpg"/>
          <p:cNvPicPr/>
          <p:nvPr/>
        </p:nvPicPr>
        <p:blipFill>
          <a:blip r:embed="rId2" cstate="print"/>
          <a:stretch>
            <a:fillRect/>
          </a:stretch>
        </p:blipFill>
        <p:spPr>
          <a:xfrm>
            <a:off x="7157390" y="2191657"/>
            <a:ext cx="4628211" cy="2884123"/>
          </a:xfrm>
          <a:prstGeom prst="rect">
            <a:avLst/>
          </a:prstGeom>
        </p:spPr>
      </p:pic>
      <p:sp>
        <p:nvSpPr>
          <p:cNvPr id="8" name="Rectangle 7"/>
          <p:cNvSpPr/>
          <p:nvPr/>
        </p:nvSpPr>
        <p:spPr>
          <a:xfrm>
            <a:off x="1087162" y="5718629"/>
            <a:ext cx="1728608" cy="400110"/>
          </a:xfrm>
          <a:prstGeom prst="rect">
            <a:avLst/>
          </a:prstGeom>
        </p:spPr>
        <p:txBody>
          <a:bodyPr wrap="square">
            <a:spAutoFit/>
          </a:bodyPr>
          <a:lstStyle/>
          <a:p>
            <a:r>
              <a:rPr lang="en-US" sz="2000" u="sng" dirty="0" smtClean="0">
                <a:latin typeface="Times New Roman" panose="02020603050405020304" pitchFamily="18" charset="0"/>
                <a:cs typeface="Times New Roman" panose="02020603050405020304" pitchFamily="18" charset="0"/>
              </a:rPr>
              <a:t>INFERENCE</a:t>
            </a:r>
            <a:endParaRPr lang="en-US" dirty="0"/>
          </a:p>
        </p:txBody>
      </p:sp>
      <p:sp>
        <p:nvSpPr>
          <p:cNvPr id="9" name="Rectangle 8"/>
          <p:cNvSpPr/>
          <p:nvPr/>
        </p:nvSpPr>
        <p:spPr>
          <a:xfrm>
            <a:off x="1103085" y="6165150"/>
            <a:ext cx="7982858" cy="461665"/>
          </a:xfrm>
          <a:prstGeom prst="rect">
            <a:avLst/>
          </a:prstGeom>
        </p:spPr>
        <p:txBody>
          <a:bodyPr wrap="square">
            <a:spAutoFit/>
          </a:bodyPr>
          <a:lstStyle/>
          <a:p>
            <a:pPr lvl="2" algn="ctr"/>
            <a:r>
              <a:rPr lang="en-US" sz="2000" dirty="0" smtClean="0">
                <a:latin typeface="Times New Roman" panose="02020603050405020304" pitchFamily="18" charset="0"/>
                <a:cs typeface="Times New Roman" panose="02020603050405020304" pitchFamily="18" charset="0"/>
              </a:rPr>
              <a:t>Majority</a:t>
            </a:r>
            <a:r>
              <a:rPr lang="en-US" sz="2000" b="1" dirty="0" smtClean="0">
                <a:latin typeface="Times New Roman" panose="02020603050405020304" pitchFamily="18" charset="0"/>
                <a:cs typeface="Times New Roman" panose="02020603050405020304" pitchFamily="18" charset="0"/>
              </a:rPr>
              <a:t> 40% of the respondents prefer to use study purpose.</a:t>
            </a:r>
            <a:r>
              <a:rPr lang="en-US" sz="2400" b="1" dirty="0" smtClean="0">
                <a:latin typeface="Times New Roman" panose="02020603050405020304" pitchFamily="18" charset="0"/>
                <a:cs typeface="Times New Roman" panose="02020603050405020304" pitchFamily="18" charset="0"/>
              </a:rPr>
              <a:t> </a:t>
            </a:r>
            <a:endParaRPr lang="en-IN" sz="2800" b="1"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38773718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253" y="0"/>
            <a:ext cx="10353761" cy="1326321"/>
          </a:xfrm>
        </p:spPr>
        <p:txBody>
          <a:bodyPr>
            <a:normAutofit/>
          </a:bodyPr>
          <a:lstStyle/>
          <a:p>
            <a:r>
              <a:rPr lang="en-IN" sz="2800" u="sng" dirty="0" smtClean="0">
                <a:latin typeface="Times New Roman" panose="02020603050405020304" pitchFamily="18" charset="0"/>
                <a:cs typeface="Times New Roman" panose="02020603050405020304" pitchFamily="18" charset="0"/>
              </a:rPr>
              <a:t>Problems faced by the respondents using mobile</a:t>
            </a:r>
            <a:endParaRPr lang="en-IN" sz="2800"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717026" y="2931344"/>
            <a:ext cx="10353762" cy="3695136"/>
          </a:xfrm>
        </p:spPr>
        <p:txBody>
          <a:bodyPr>
            <a:normAutofit/>
          </a:bodyPr>
          <a:lstStyle/>
          <a:p>
            <a:pPr marL="0" indent="0" algn="ctr">
              <a:buNone/>
            </a:pPr>
            <a:r>
              <a:rPr lang="en-US" sz="2800" b="1" dirty="0">
                <a:effectLst/>
                <a:latin typeface="Times New Roman" panose="02020603050405020304" pitchFamily="18" charset="0"/>
                <a:cs typeface="Times New Roman" panose="02020603050405020304" pitchFamily="18" charset="0"/>
              </a:rPr>
              <a:t/>
            </a:r>
            <a:br>
              <a:rPr lang="en-US" sz="2800" b="1" dirty="0">
                <a:effectLst/>
                <a:latin typeface="Times New Roman" panose="02020603050405020304" pitchFamily="18" charset="0"/>
                <a:cs typeface="Times New Roman" panose="02020603050405020304" pitchFamily="18" charset="0"/>
              </a:rPr>
            </a:br>
            <a:endParaRPr lang="en-IN" sz="2800" b="1" dirty="0">
              <a:latin typeface="Times New Roman" panose="02020603050405020304" pitchFamily="18" charset="0"/>
              <a:cs typeface="Times New Roman" panose="02020603050405020304" pitchFamily="18" charset="0"/>
            </a:endParaRPr>
          </a:p>
        </p:txBody>
      </p:sp>
      <p:graphicFrame>
        <p:nvGraphicFramePr>
          <p:cNvPr id="5" name="Table 4"/>
          <p:cNvGraphicFramePr>
            <a:graphicFrameLocks noGrp="1"/>
          </p:cNvGraphicFramePr>
          <p:nvPr/>
        </p:nvGraphicFramePr>
        <p:xfrm>
          <a:off x="377371" y="1256695"/>
          <a:ext cx="6199649" cy="4592296"/>
        </p:xfrm>
        <a:graphic>
          <a:graphicData uri="http://schemas.openxmlformats.org/drawingml/2006/table">
            <a:tbl>
              <a:tblPr firstRow="1" firstCol="1" lastRow="1" lastCol="1" bandRow="1" bandCol="1">
                <a:tableStyleId>{D03447BB-5D67-496B-8E87-E561075AD55C}</a:tableStyleId>
              </a:tblPr>
              <a:tblGrid>
                <a:gridCol w="1506442"/>
                <a:gridCol w="1775836"/>
                <a:gridCol w="1494971"/>
                <a:gridCol w="1422400"/>
              </a:tblGrid>
              <a:tr h="828950">
                <a:tc>
                  <a:txBody>
                    <a:bodyPr/>
                    <a:lstStyle/>
                    <a:p>
                      <a:pPr algn="l">
                        <a:spcBef>
                          <a:spcPts val="15"/>
                        </a:spcBef>
                        <a:spcAft>
                          <a:spcPts val="0"/>
                        </a:spcAft>
                      </a:pPr>
                      <a:r>
                        <a:rPr lang="en-US" sz="1400" dirty="0">
                          <a:effectLst/>
                        </a:rPr>
                        <a:t> </a:t>
                      </a:r>
                      <a:endParaRPr lang="en-IN" sz="1400" dirty="0">
                        <a:effectLst/>
                      </a:endParaRPr>
                    </a:p>
                    <a:p>
                      <a:pPr marL="488950" algn="l">
                        <a:spcBef>
                          <a:spcPts val="15"/>
                        </a:spcBef>
                        <a:spcAft>
                          <a:spcPts val="0"/>
                        </a:spcAft>
                      </a:pPr>
                      <a:r>
                        <a:rPr lang="en-US" sz="1400" dirty="0">
                          <a:effectLst/>
                        </a:rPr>
                        <a:t>S.</a:t>
                      </a:r>
                      <a:r>
                        <a:rPr lang="en-US" sz="1400" spc="-10" dirty="0">
                          <a:effectLst/>
                        </a:rPr>
                        <a:t> </a:t>
                      </a:r>
                      <a:r>
                        <a:rPr lang="en-US" sz="1400" dirty="0" smtClean="0">
                          <a:effectLst/>
                        </a:rPr>
                        <a:t>NO</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endParaRPr lang="en-IN" sz="1400" dirty="0">
                        <a:effectLst/>
                      </a:endParaRPr>
                    </a:p>
                    <a:p>
                      <a:pPr marL="55880" marR="55245" algn="ctr">
                        <a:spcBef>
                          <a:spcPts val="15"/>
                        </a:spcBef>
                        <a:spcAft>
                          <a:spcPts val="0"/>
                        </a:spcAft>
                      </a:pPr>
                      <a:r>
                        <a:rPr lang="en-IN" sz="1400" baseline="0" dirty="0" smtClean="0">
                          <a:effectLst/>
                          <a:latin typeface="+mn-lt"/>
                          <a:ea typeface="+mn-ea"/>
                          <a:cs typeface="+mn-cs"/>
                        </a:rPr>
                        <a:t>PARTICULARS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US" sz="1400" dirty="0">
                          <a:effectLst/>
                        </a:rPr>
                        <a:t>NO OF</a:t>
                      </a:r>
                      <a:endParaRPr lang="en-IN" sz="1400" dirty="0">
                        <a:effectLst/>
                      </a:endParaRPr>
                    </a:p>
                    <a:p>
                      <a:pPr marL="52705" marR="52705" algn="ctr">
                        <a:spcBef>
                          <a:spcPts val="790"/>
                        </a:spcBef>
                        <a:spcAft>
                          <a:spcPts val="0"/>
                        </a:spcAft>
                      </a:pPr>
                      <a:r>
                        <a:rPr lang="en-US" sz="1400" dirty="0">
                          <a:effectLst/>
                        </a:rPr>
                        <a:t>RESPONDENTS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40005" marR="92075" algn="ctr">
                        <a:spcBef>
                          <a:spcPts val="15"/>
                        </a:spcBef>
                        <a:spcAft>
                          <a:spcPts val="0"/>
                        </a:spcAft>
                      </a:pPr>
                      <a:r>
                        <a:rPr lang="en-US" sz="1400" dirty="0">
                          <a:effectLst/>
                        </a:rPr>
                        <a:t>PERCENTAGE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15"/>
                        </a:spcBef>
                        <a:spcAft>
                          <a:spcPts val="0"/>
                        </a:spcAft>
                      </a:pPr>
                      <a:r>
                        <a:rPr lang="en-US" sz="1400" dirty="0">
                          <a:effectLst/>
                        </a:rPr>
                        <a:t>1</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mn-lt"/>
                          <a:ea typeface="+mn-ea"/>
                          <a:cs typeface="+mn-cs"/>
                        </a:rPr>
                        <a:t>Short</a:t>
                      </a:r>
                      <a:r>
                        <a:rPr lang="en-IN" sz="1400" baseline="0" dirty="0" smtClean="0">
                          <a:effectLst/>
                          <a:latin typeface="+mn-lt"/>
                          <a:ea typeface="+mn-ea"/>
                          <a:cs typeface="+mn-cs"/>
                        </a:rPr>
                        <a:t> battery life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mn-lt"/>
                          <a:ea typeface="+mn-ea"/>
                          <a:cs typeface="+mn-cs"/>
                        </a:rPr>
                        <a:t>9</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9525" algn="ctr">
                        <a:spcBef>
                          <a:spcPts val="15"/>
                        </a:spcBef>
                        <a:spcAft>
                          <a:spcPts val="0"/>
                        </a:spcAft>
                      </a:pPr>
                      <a:r>
                        <a:rPr lang="en-US" sz="1400" dirty="0" smtClean="0">
                          <a:effectLst/>
                        </a:rPr>
                        <a:t>18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5445">
                <a:tc>
                  <a:txBody>
                    <a:bodyPr/>
                    <a:lstStyle/>
                    <a:p>
                      <a:pPr marL="9525" algn="ctr">
                        <a:spcBef>
                          <a:spcPts val="5"/>
                        </a:spcBef>
                        <a:spcAft>
                          <a:spcPts val="0"/>
                        </a:spcAft>
                      </a:pPr>
                      <a:r>
                        <a:rPr lang="en-US" sz="1400" dirty="0">
                          <a:effectLst/>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5"/>
                        </a:spcBef>
                        <a:spcAft>
                          <a:spcPts val="0"/>
                        </a:spcAft>
                      </a:pPr>
                      <a:r>
                        <a:rPr lang="en-IN" sz="1400" dirty="0" smtClean="0">
                          <a:effectLst/>
                          <a:latin typeface="+mn-lt"/>
                          <a:ea typeface="+mn-ea"/>
                          <a:cs typeface="+mn-cs"/>
                        </a:rPr>
                        <a:t>Over</a:t>
                      </a:r>
                      <a:r>
                        <a:rPr lang="en-IN" sz="1400" baseline="0" dirty="0" smtClean="0">
                          <a:effectLst/>
                          <a:latin typeface="+mn-lt"/>
                          <a:ea typeface="+mn-ea"/>
                          <a:cs typeface="+mn-cs"/>
                        </a:rPr>
                        <a:t> heating</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6400">
                <a:tc>
                  <a:txBody>
                    <a:bodyPr/>
                    <a:lstStyle/>
                    <a:p>
                      <a:pPr marL="9525" algn="ctr">
                        <a:spcBef>
                          <a:spcPts val="15"/>
                        </a:spcBef>
                        <a:spcAft>
                          <a:spcPts val="0"/>
                        </a:spcAft>
                      </a:pPr>
                      <a:r>
                        <a:rPr lang="en-US" sz="1400" dirty="0">
                          <a:effectLst/>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270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Lack</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of storage space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2705"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mn-lt"/>
                          <a:ea typeface="+mn-ea"/>
                          <a:cs typeface="+mn-cs"/>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US" sz="1400" dirty="0" smtClean="0">
                          <a:effectLst/>
                          <a:latin typeface="+mn-lt"/>
                          <a:ea typeface="+mn-ea"/>
                          <a:cs typeface="+mn-cs"/>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Water</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damage</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Blurry</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camera</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387350">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Faulty</a:t>
                      </a:r>
                      <a:r>
                        <a:rPr lang="en-IN" sz="1400" baseline="0" dirty="0" smtClean="0">
                          <a:effectLst/>
                          <a:latin typeface="Times New Roman" panose="02020603050405020304" pitchFamily="18" charset="0"/>
                          <a:ea typeface="Times New Roman" panose="02020603050405020304" pitchFamily="18" charset="0"/>
                          <a:cs typeface="Latha" panose="020B0604020202020204" pitchFamily="34" charset="0"/>
                        </a:rPr>
                        <a:t> charging port</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2</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4</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405933">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7</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Crashes frequently</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5</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10</a:t>
                      </a:r>
                    </a:p>
                  </a:txBody>
                  <a:tcPr marL="0" marR="0" marT="0" marB="0"/>
                </a:tc>
              </a:tr>
              <a:tr h="405933">
                <a:tc>
                  <a:txBody>
                    <a:bodyPr/>
                    <a:lstStyle/>
                    <a:p>
                      <a:pPr marL="952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8</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5778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Hardware defects</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6350"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3</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marL="55880" marR="46355" algn="ctr">
                        <a:spcBef>
                          <a:spcPts val="15"/>
                        </a:spcBef>
                        <a:spcAft>
                          <a:spcPts val="0"/>
                        </a:spcAft>
                      </a:pPr>
                      <a:r>
                        <a:rPr lang="en-IN" sz="1400" dirty="0" smtClean="0">
                          <a:effectLst/>
                          <a:latin typeface="Times New Roman" panose="02020603050405020304" pitchFamily="18" charset="0"/>
                          <a:ea typeface="Times New Roman" panose="02020603050405020304" pitchFamily="18" charset="0"/>
                          <a:cs typeface="Latha" panose="020B0604020202020204" pitchFamily="34" charset="0"/>
                        </a:rPr>
                        <a:t>6</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r h="612140">
                <a:tc gridSpan="2">
                  <a:txBody>
                    <a:bodyPr/>
                    <a:lstStyle/>
                    <a:p>
                      <a:pPr algn="l">
                        <a:spcBef>
                          <a:spcPts val="15"/>
                        </a:spcBef>
                        <a:spcAft>
                          <a:spcPts val="0"/>
                        </a:spcAft>
                      </a:pPr>
                      <a:r>
                        <a:rPr lang="en-US" sz="1400" dirty="0">
                          <a:effectLst/>
                        </a:rPr>
                        <a:t> </a:t>
                      </a:r>
                      <a:endParaRPr lang="en-IN" sz="1400" dirty="0">
                        <a:effectLst/>
                      </a:endParaRPr>
                    </a:p>
                    <a:p>
                      <a:pPr marL="1106805" marR="1102995" algn="ctr">
                        <a:spcBef>
                          <a:spcPts val="5"/>
                        </a:spcBef>
                        <a:spcAft>
                          <a:spcPts val="0"/>
                        </a:spcAft>
                      </a:pPr>
                      <a:r>
                        <a:rPr lang="en-US" sz="1400" dirty="0">
                          <a:effectLst/>
                        </a:rPr>
                        <a:t>TOTAL</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hMerge="1">
                  <a:txBody>
                    <a:bodyPr/>
                    <a:lstStyle/>
                    <a:p>
                      <a:endParaRPr lang="en-IN"/>
                    </a:p>
                  </a:txBody>
                  <a:tcPr/>
                </a:tc>
                <a:tc>
                  <a:txBody>
                    <a:bodyPr/>
                    <a:lstStyle/>
                    <a:p>
                      <a:pPr algn="l">
                        <a:spcBef>
                          <a:spcPts val="15"/>
                        </a:spcBef>
                        <a:spcAft>
                          <a:spcPts val="0"/>
                        </a:spcAft>
                      </a:pPr>
                      <a:r>
                        <a:rPr lang="en-US" sz="1400">
                          <a:effectLst/>
                        </a:rPr>
                        <a:t> </a:t>
                      </a:r>
                      <a:endParaRPr lang="en-IN" sz="1400">
                        <a:effectLst/>
                      </a:endParaRPr>
                    </a:p>
                    <a:p>
                      <a:pPr marL="52705" marR="46355" algn="ctr">
                        <a:spcBef>
                          <a:spcPts val="5"/>
                        </a:spcBef>
                        <a:spcAft>
                          <a:spcPts val="0"/>
                        </a:spcAft>
                      </a:pPr>
                      <a:r>
                        <a:rPr lang="en-US" sz="1400">
                          <a:effectLst/>
                        </a:rPr>
                        <a:t>50</a:t>
                      </a:r>
                      <a:endParaRPr lang="en-IN" sz="140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c>
                  <a:txBody>
                    <a:bodyPr/>
                    <a:lstStyle/>
                    <a:p>
                      <a:pPr algn="l">
                        <a:spcBef>
                          <a:spcPts val="15"/>
                        </a:spcBef>
                        <a:spcAft>
                          <a:spcPts val="0"/>
                        </a:spcAft>
                      </a:pPr>
                      <a:r>
                        <a:rPr lang="en-US" sz="1400" dirty="0">
                          <a:effectLst/>
                        </a:rPr>
                        <a:t> </a:t>
                      </a:r>
                      <a:endParaRPr lang="en-IN" sz="1400" dirty="0">
                        <a:effectLst/>
                      </a:endParaRPr>
                    </a:p>
                    <a:p>
                      <a:pPr marL="55880" marR="46355" algn="ctr">
                        <a:spcBef>
                          <a:spcPts val="5"/>
                        </a:spcBef>
                        <a:spcAft>
                          <a:spcPts val="0"/>
                        </a:spcAft>
                      </a:pPr>
                      <a:r>
                        <a:rPr lang="en-US" sz="1400" dirty="0">
                          <a:effectLst/>
                        </a:rPr>
                        <a:t>100</a:t>
                      </a:r>
                      <a:endParaRPr lang="en-IN" sz="1400" dirty="0">
                        <a:effectLst/>
                        <a:latin typeface="Times New Roman" panose="02020603050405020304" pitchFamily="18" charset="0"/>
                        <a:ea typeface="Times New Roman" panose="02020603050405020304" pitchFamily="18" charset="0"/>
                        <a:cs typeface="Latha" panose="020B0604020202020204" pitchFamily="34" charset="0"/>
                      </a:endParaRPr>
                    </a:p>
                  </a:txBody>
                  <a:tcPr marL="0" marR="0" marT="0" marB="0"/>
                </a:tc>
              </a:tr>
            </a:tbl>
          </a:graphicData>
        </a:graphic>
      </p:graphicFrame>
      <p:grpSp>
        <p:nvGrpSpPr>
          <p:cNvPr id="3074" name="Group 2"/>
          <p:cNvGrpSpPr>
            <a:grpSpLocks/>
          </p:cNvGrpSpPr>
          <p:nvPr/>
        </p:nvGrpSpPr>
        <p:grpSpPr bwMode="auto">
          <a:xfrm>
            <a:off x="6923314" y="1451429"/>
            <a:ext cx="5094515" cy="4267200"/>
            <a:chOff x="2346" y="361"/>
            <a:chExt cx="7215" cy="5979"/>
          </a:xfrm>
        </p:grpSpPr>
        <p:sp>
          <p:nvSpPr>
            <p:cNvPr id="3075" name="AutoShape 3"/>
            <p:cNvSpPr>
              <a:spLocks/>
            </p:cNvSpPr>
            <p:nvPr/>
          </p:nvSpPr>
          <p:spPr bwMode="auto">
            <a:xfrm>
              <a:off x="3011" y="2711"/>
              <a:ext cx="1062" cy="1414"/>
            </a:xfrm>
            <a:custGeom>
              <a:avLst/>
              <a:gdLst/>
              <a:ahLst/>
              <a:cxnLst>
                <a:cxn ang="0">
                  <a:pos x="0" y="1414"/>
                </a:cxn>
                <a:cxn ang="0">
                  <a:pos x="271" y="1414"/>
                </a:cxn>
                <a:cxn ang="0">
                  <a:pos x="518" y="1414"/>
                </a:cxn>
                <a:cxn ang="0">
                  <a:pos x="1061" y="1414"/>
                </a:cxn>
                <a:cxn ang="0">
                  <a:pos x="0" y="706"/>
                </a:cxn>
                <a:cxn ang="0">
                  <a:pos x="271" y="706"/>
                </a:cxn>
                <a:cxn ang="0">
                  <a:pos x="518" y="706"/>
                </a:cxn>
                <a:cxn ang="0">
                  <a:pos x="1061" y="706"/>
                </a:cxn>
                <a:cxn ang="0">
                  <a:pos x="0" y="0"/>
                </a:cxn>
                <a:cxn ang="0">
                  <a:pos x="271" y="0"/>
                </a:cxn>
                <a:cxn ang="0">
                  <a:pos x="518" y="0"/>
                </a:cxn>
                <a:cxn ang="0">
                  <a:pos x="1061" y="0"/>
                </a:cxn>
              </a:cxnLst>
              <a:rect l="0" t="0" r="r" b="b"/>
              <a:pathLst>
                <a:path w="1062" h="1414">
                  <a:moveTo>
                    <a:pt x="0" y="1414"/>
                  </a:moveTo>
                  <a:lnTo>
                    <a:pt x="271" y="1414"/>
                  </a:lnTo>
                  <a:moveTo>
                    <a:pt x="518" y="1414"/>
                  </a:moveTo>
                  <a:lnTo>
                    <a:pt x="1061" y="1414"/>
                  </a:lnTo>
                  <a:moveTo>
                    <a:pt x="0" y="706"/>
                  </a:moveTo>
                  <a:lnTo>
                    <a:pt x="271" y="706"/>
                  </a:lnTo>
                  <a:moveTo>
                    <a:pt x="518" y="706"/>
                  </a:moveTo>
                  <a:lnTo>
                    <a:pt x="1061" y="706"/>
                  </a:lnTo>
                  <a:moveTo>
                    <a:pt x="0" y="0"/>
                  </a:moveTo>
                  <a:lnTo>
                    <a:pt x="271" y="0"/>
                  </a:lnTo>
                  <a:moveTo>
                    <a:pt x="518" y="0"/>
                  </a:moveTo>
                  <a:lnTo>
                    <a:pt x="1061" y="0"/>
                  </a:lnTo>
                </a:path>
              </a:pathLst>
            </a:cu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6" name="Rectangle 4"/>
            <p:cNvSpPr>
              <a:spLocks noChangeArrowheads="1"/>
            </p:cNvSpPr>
            <p:nvPr/>
          </p:nvSpPr>
          <p:spPr bwMode="auto">
            <a:xfrm>
              <a:off x="3283" y="2286"/>
              <a:ext cx="248" cy="2546"/>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7" name="AutoShape 5"/>
            <p:cNvSpPr>
              <a:spLocks/>
            </p:cNvSpPr>
            <p:nvPr/>
          </p:nvSpPr>
          <p:spPr bwMode="auto">
            <a:xfrm>
              <a:off x="3011" y="1295"/>
              <a:ext cx="6322" cy="2830"/>
            </a:xfrm>
            <a:custGeom>
              <a:avLst/>
              <a:gdLst/>
              <a:ahLst/>
              <a:cxnLst>
                <a:cxn ang="0">
                  <a:pos x="1308" y="2830"/>
                </a:cxn>
                <a:cxn ang="0">
                  <a:pos x="1850" y="2830"/>
                </a:cxn>
                <a:cxn ang="0">
                  <a:pos x="1308" y="2122"/>
                </a:cxn>
                <a:cxn ang="0">
                  <a:pos x="1850" y="2122"/>
                </a:cxn>
                <a:cxn ang="0">
                  <a:pos x="1308" y="1416"/>
                </a:cxn>
                <a:cxn ang="0">
                  <a:pos x="6321" y="1416"/>
                </a:cxn>
                <a:cxn ang="0">
                  <a:pos x="0" y="708"/>
                </a:cxn>
                <a:cxn ang="0">
                  <a:pos x="1061" y="708"/>
                </a:cxn>
                <a:cxn ang="0">
                  <a:pos x="1308" y="708"/>
                </a:cxn>
                <a:cxn ang="0">
                  <a:pos x="6321" y="708"/>
                </a:cxn>
                <a:cxn ang="0">
                  <a:pos x="0" y="0"/>
                </a:cxn>
                <a:cxn ang="0">
                  <a:pos x="1061" y="0"/>
                </a:cxn>
                <a:cxn ang="0">
                  <a:pos x="1308" y="0"/>
                </a:cxn>
                <a:cxn ang="0">
                  <a:pos x="6321" y="0"/>
                </a:cxn>
              </a:cxnLst>
              <a:rect l="0" t="0" r="r" b="b"/>
              <a:pathLst>
                <a:path w="6322" h="2830">
                  <a:moveTo>
                    <a:pt x="1308" y="2830"/>
                  </a:moveTo>
                  <a:lnTo>
                    <a:pt x="1850" y="2830"/>
                  </a:lnTo>
                  <a:moveTo>
                    <a:pt x="1308" y="2122"/>
                  </a:moveTo>
                  <a:lnTo>
                    <a:pt x="1850" y="2122"/>
                  </a:lnTo>
                  <a:moveTo>
                    <a:pt x="1308" y="1416"/>
                  </a:moveTo>
                  <a:lnTo>
                    <a:pt x="6321" y="1416"/>
                  </a:lnTo>
                  <a:moveTo>
                    <a:pt x="0" y="708"/>
                  </a:moveTo>
                  <a:lnTo>
                    <a:pt x="1061" y="708"/>
                  </a:lnTo>
                  <a:moveTo>
                    <a:pt x="1308" y="708"/>
                  </a:moveTo>
                  <a:lnTo>
                    <a:pt x="6321" y="708"/>
                  </a:lnTo>
                  <a:moveTo>
                    <a:pt x="0" y="0"/>
                  </a:moveTo>
                  <a:lnTo>
                    <a:pt x="1061" y="0"/>
                  </a:lnTo>
                  <a:moveTo>
                    <a:pt x="1308" y="0"/>
                  </a:moveTo>
                  <a:lnTo>
                    <a:pt x="6321" y="0"/>
                  </a:lnTo>
                </a:path>
              </a:pathLst>
            </a:cu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78" name="Rectangle 6"/>
            <p:cNvSpPr>
              <a:spLocks noChangeArrowheads="1"/>
            </p:cNvSpPr>
            <p:nvPr/>
          </p:nvSpPr>
          <p:spPr bwMode="auto">
            <a:xfrm>
              <a:off x="4072" y="870"/>
              <a:ext cx="248" cy="3962"/>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79" name="AutoShape 7"/>
            <p:cNvSpPr>
              <a:spLocks/>
            </p:cNvSpPr>
            <p:nvPr/>
          </p:nvSpPr>
          <p:spPr bwMode="auto">
            <a:xfrm>
              <a:off x="5112" y="3416"/>
              <a:ext cx="1332" cy="708"/>
            </a:xfrm>
            <a:custGeom>
              <a:avLst/>
              <a:gdLst/>
              <a:ahLst/>
              <a:cxnLst>
                <a:cxn ang="0">
                  <a:pos x="0" y="708"/>
                </a:cxn>
                <a:cxn ang="0">
                  <a:pos x="542" y="708"/>
                </a:cxn>
                <a:cxn ang="0">
                  <a:pos x="0" y="0"/>
                </a:cxn>
                <a:cxn ang="0">
                  <a:pos x="1332" y="0"/>
                </a:cxn>
              </a:cxnLst>
              <a:rect l="0" t="0" r="r" b="b"/>
              <a:pathLst>
                <a:path w="1332" h="708">
                  <a:moveTo>
                    <a:pt x="0" y="708"/>
                  </a:moveTo>
                  <a:lnTo>
                    <a:pt x="542" y="708"/>
                  </a:lnTo>
                  <a:moveTo>
                    <a:pt x="0" y="0"/>
                  </a:moveTo>
                  <a:lnTo>
                    <a:pt x="1332" y="0"/>
                  </a:lnTo>
                </a:path>
              </a:pathLst>
            </a:cu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0" name="Rectangle 8"/>
            <p:cNvSpPr>
              <a:spLocks noChangeArrowheads="1"/>
            </p:cNvSpPr>
            <p:nvPr/>
          </p:nvSpPr>
          <p:spPr bwMode="auto">
            <a:xfrm>
              <a:off x="4862" y="2852"/>
              <a:ext cx="250" cy="1979"/>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1" name="Line 9"/>
            <p:cNvSpPr>
              <a:spLocks noChangeShapeType="1"/>
            </p:cNvSpPr>
            <p:nvPr/>
          </p:nvSpPr>
          <p:spPr bwMode="auto">
            <a:xfrm>
              <a:off x="5902" y="4125"/>
              <a:ext cx="542" cy="0"/>
            </a:xfrm>
            <a:prstGeom prst="line">
              <a:avLst/>
            </a:pr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2" name="Rectangle 10"/>
            <p:cNvSpPr>
              <a:spLocks noChangeArrowheads="1"/>
            </p:cNvSpPr>
            <p:nvPr/>
          </p:nvSpPr>
          <p:spPr bwMode="auto">
            <a:xfrm>
              <a:off x="5654" y="3983"/>
              <a:ext cx="248" cy="849"/>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3" name="Line 11"/>
            <p:cNvSpPr>
              <a:spLocks noChangeShapeType="1"/>
            </p:cNvSpPr>
            <p:nvPr/>
          </p:nvSpPr>
          <p:spPr bwMode="auto">
            <a:xfrm>
              <a:off x="6691" y="4125"/>
              <a:ext cx="1332" cy="0"/>
            </a:xfrm>
            <a:prstGeom prst="line">
              <a:avLst/>
            </a:pr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4" name="AutoShape 12"/>
            <p:cNvSpPr>
              <a:spLocks/>
            </p:cNvSpPr>
            <p:nvPr/>
          </p:nvSpPr>
          <p:spPr bwMode="auto">
            <a:xfrm>
              <a:off x="6691" y="3412"/>
              <a:ext cx="2642" cy="8"/>
            </a:xfrm>
            <a:custGeom>
              <a:avLst/>
              <a:gdLst/>
              <a:ahLst/>
              <a:cxnLst>
                <a:cxn ang="0">
                  <a:pos x="0" y="7"/>
                </a:cxn>
                <a:cxn ang="0">
                  <a:pos x="2642" y="7"/>
                </a:cxn>
                <a:cxn ang="0">
                  <a:pos x="0" y="0"/>
                </a:cxn>
                <a:cxn ang="0">
                  <a:pos x="2642" y="0"/>
                </a:cxn>
              </a:cxnLst>
              <a:rect l="0" t="0" r="r" b="b"/>
              <a:pathLst>
                <a:path w="2642" h="8">
                  <a:moveTo>
                    <a:pt x="0" y="7"/>
                  </a:moveTo>
                  <a:lnTo>
                    <a:pt x="2642" y="7"/>
                  </a:lnTo>
                  <a:moveTo>
                    <a:pt x="0" y="0"/>
                  </a:moveTo>
                  <a:lnTo>
                    <a:pt x="2642" y="0"/>
                  </a:lnTo>
                </a:path>
              </a:pathLst>
            </a:custGeom>
            <a:noFill/>
            <a:ln w="4763">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5" name="AutoShape 13"/>
            <p:cNvSpPr>
              <a:spLocks/>
            </p:cNvSpPr>
            <p:nvPr/>
          </p:nvSpPr>
          <p:spPr bwMode="auto">
            <a:xfrm>
              <a:off x="6444" y="2852"/>
              <a:ext cx="1037" cy="1979"/>
            </a:xfrm>
            <a:custGeom>
              <a:avLst/>
              <a:gdLst/>
              <a:ahLst/>
              <a:cxnLst>
                <a:cxn ang="0">
                  <a:pos x="247" y="0"/>
                </a:cxn>
                <a:cxn ang="0">
                  <a:pos x="0" y="0"/>
                </a:cxn>
                <a:cxn ang="0">
                  <a:pos x="0" y="1979"/>
                </a:cxn>
                <a:cxn ang="0">
                  <a:pos x="247" y="1979"/>
                </a:cxn>
                <a:cxn ang="0">
                  <a:pos x="247" y="0"/>
                </a:cxn>
                <a:cxn ang="0">
                  <a:pos x="1037" y="1413"/>
                </a:cxn>
                <a:cxn ang="0">
                  <a:pos x="790" y="1413"/>
                </a:cxn>
                <a:cxn ang="0">
                  <a:pos x="790" y="1979"/>
                </a:cxn>
                <a:cxn ang="0">
                  <a:pos x="1037" y="1979"/>
                </a:cxn>
                <a:cxn ang="0">
                  <a:pos x="1037" y="1413"/>
                </a:cxn>
              </a:cxnLst>
              <a:rect l="0" t="0" r="r" b="b"/>
              <a:pathLst>
                <a:path w="1037" h="1979">
                  <a:moveTo>
                    <a:pt x="247" y="0"/>
                  </a:moveTo>
                  <a:lnTo>
                    <a:pt x="0" y="0"/>
                  </a:lnTo>
                  <a:lnTo>
                    <a:pt x="0" y="1979"/>
                  </a:lnTo>
                  <a:lnTo>
                    <a:pt x="247" y="1979"/>
                  </a:lnTo>
                  <a:lnTo>
                    <a:pt x="247" y="0"/>
                  </a:lnTo>
                  <a:close/>
                  <a:moveTo>
                    <a:pt x="1037" y="1413"/>
                  </a:moveTo>
                  <a:lnTo>
                    <a:pt x="790" y="1413"/>
                  </a:lnTo>
                  <a:lnTo>
                    <a:pt x="790" y="1979"/>
                  </a:lnTo>
                  <a:lnTo>
                    <a:pt x="1037" y="1979"/>
                  </a:lnTo>
                  <a:lnTo>
                    <a:pt x="1037" y="1413"/>
                  </a:lnTo>
                  <a:close/>
                </a:path>
              </a:pathLst>
            </a:custGeom>
            <a:solidFill>
              <a:srgbClr val="4471C4"/>
            </a:solidFill>
            <a:ln w="9525">
              <a:no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6" name="Line 14"/>
            <p:cNvSpPr>
              <a:spLocks noChangeShapeType="1"/>
            </p:cNvSpPr>
            <p:nvPr/>
          </p:nvSpPr>
          <p:spPr bwMode="auto">
            <a:xfrm>
              <a:off x="8273" y="4125"/>
              <a:ext cx="542" cy="0"/>
            </a:xfrm>
            <a:prstGeom prst="line">
              <a:avLst/>
            </a:pr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7" name="Rectangle 15"/>
            <p:cNvSpPr>
              <a:spLocks noChangeArrowheads="1"/>
            </p:cNvSpPr>
            <p:nvPr/>
          </p:nvSpPr>
          <p:spPr bwMode="auto">
            <a:xfrm>
              <a:off x="8023" y="3416"/>
              <a:ext cx="250" cy="1415"/>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88" name="Line 16"/>
            <p:cNvSpPr>
              <a:spLocks noChangeShapeType="1"/>
            </p:cNvSpPr>
            <p:nvPr/>
          </p:nvSpPr>
          <p:spPr bwMode="auto">
            <a:xfrm>
              <a:off x="9062" y="4125"/>
              <a:ext cx="271" cy="0"/>
            </a:xfrm>
            <a:prstGeom prst="line">
              <a:avLst/>
            </a:pr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sp>
          <p:nvSpPr>
            <p:cNvPr id="3089" name="Rectangle 17"/>
            <p:cNvSpPr>
              <a:spLocks noChangeArrowheads="1"/>
            </p:cNvSpPr>
            <p:nvPr/>
          </p:nvSpPr>
          <p:spPr bwMode="auto">
            <a:xfrm>
              <a:off x="8815" y="3983"/>
              <a:ext cx="248" cy="849"/>
            </a:xfrm>
            <a:prstGeom prst="rect">
              <a:avLst/>
            </a:prstGeom>
            <a:solidFill>
              <a:srgbClr val="4471C4"/>
            </a:solidFill>
            <a:ln w="9525">
              <a:no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0" name="AutoShape 18"/>
            <p:cNvSpPr>
              <a:spLocks/>
            </p:cNvSpPr>
            <p:nvPr/>
          </p:nvSpPr>
          <p:spPr bwMode="auto">
            <a:xfrm>
              <a:off x="3011" y="588"/>
              <a:ext cx="6322" cy="4243"/>
            </a:xfrm>
            <a:custGeom>
              <a:avLst/>
              <a:gdLst/>
              <a:ahLst/>
              <a:cxnLst>
                <a:cxn ang="0">
                  <a:pos x="0" y="4243"/>
                </a:cxn>
                <a:cxn ang="0">
                  <a:pos x="6321" y="4243"/>
                </a:cxn>
                <a:cxn ang="0">
                  <a:pos x="0" y="0"/>
                </a:cxn>
                <a:cxn ang="0">
                  <a:pos x="6321" y="0"/>
                </a:cxn>
              </a:cxnLst>
              <a:rect l="0" t="0" r="r" b="b"/>
              <a:pathLst>
                <a:path w="6322" h="4243">
                  <a:moveTo>
                    <a:pt x="0" y="4243"/>
                  </a:moveTo>
                  <a:lnTo>
                    <a:pt x="6321" y="4243"/>
                  </a:lnTo>
                  <a:moveTo>
                    <a:pt x="0" y="0"/>
                  </a:moveTo>
                  <a:lnTo>
                    <a:pt x="6321" y="0"/>
                  </a:lnTo>
                </a:path>
              </a:pathLst>
            </a:custGeom>
            <a:noFill/>
            <a:ln w="9525">
              <a:solidFill>
                <a:srgbClr val="D9D9D9"/>
              </a:solidFill>
              <a:round/>
              <a:headEnd/>
              <a:tailEnd/>
            </a:ln>
          </p:spPr>
          <p:txBody>
            <a:bodyPr vert="horz" wrap="square" lIns="91440" tIns="45720" rIns="91440" bIns="45720" numCol="1" anchor="t" anchorCtr="0" compatLnSpc="1">
              <a:prstTxWarp prst="textNoShape">
                <a:avLst/>
              </a:prstTxWarp>
            </a:bodyPr>
            <a:lstStyle/>
            <a:p>
              <a:endParaRPr lang="en-US"/>
            </a:p>
          </p:txBody>
        </p:sp>
        <p:pic>
          <p:nvPicPr>
            <p:cNvPr id="3091" name="Picture 19"/>
            <p:cNvPicPr>
              <a:picLocks noChangeAspect="1" noChangeArrowheads="1"/>
            </p:cNvPicPr>
            <p:nvPr/>
          </p:nvPicPr>
          <p:blipFill>
            <a:blip r:embed="rId2"/>
            <a:srcRect/>
            <a:stretch>
              <a:fillRect/>
            </a:stretch>
          </p:blipFill>
          <p:spPr bwMode="auto">
            <a:xfrm>
              <a:off x="2510" y="5025"/>
              <a:ext cx="927" cy="906"/>
            </a:xfrm>
            <a:prstGeom prst="rect">
              <a:avLst/>
            </a:prstGeom>
            <a:noFill/>
          </p:spPr>
        </p:pic>
        <p:pic>
          <p:nvPicPr>
            <p:cNvPr id="3092" name="Picture 20"/>
            <p:cNvPicPr>
              <a:picLocks noChangeAspect="1" noChangeArrowheads="1"/>
            </p:cNvPicPr>
            <p:nvPr/>
          </p:nvPicPr>
          <p:blipFill>
            <a:blip r:embed="rId3"/>
            <a:srcRect/>
            <a:stretch>
              <a:fillRect/>
            </a:stretch>
          </p:blipFill>
          <p:spPr bwMode="auto">
            <a:xfrm>
              <a:off x="3545" y="5010"/>
              <a:ext cx="5422" cy="1145"/>
            </a:xfrm>
            <a:prstGeom prst="rect">
              <a:avLst/>
            </a:prstGeom>
            <a:noFill/>
          </p:spPr>
        </p:pic>
        <p:sp>
          <p:nvSpPr>
            <p:cNvPr id="3093" name="Rectangle 21"/>
            <p:cNvSpPr>
              <a:spLocks noChangeArrowheads="1"/>
            </p:cNvSpPr>
            <p:nvPr/>
          </p:nvSpPr>
          <p:spPr bwMode="auto">
            <a:xfrm>
              <a:off x="2353" y="368"/>
              <a:ext cx="7200" cy="5964"/>
            </a:xfrm>
            <a:prstGeom prst="rect">
              <a:avLst/>
            </a:prstGeom>
            <a:noFill/>
            <a:ln w="9525">
              <a:solidFill>
                <a:srgbClr val="D9D9D9"/>
              </a:solidFill>
              <a:miter lim="800000"/>
              <a:headEnd/>
              <a:tailEnd/>
            </a:ln>
          </p:spPr>
          <p:txBody>
            <a:bodyPr vert="horz" wrap="square" lIns="91440" tIns="45720" rIns="91440" bIns="45720" numCol="1" anchor="t" anchorCtr="0" compatLnSpc="1">
              <a:prstTxWarp prst="textNoShape">
                <a:avLst/>
              </a:prstTxWarp>
            </a:bodyPr>
            <a:lstStyle/>
            <a:p>
              <a:endParaRPr lang="en-US"/>
            </a:p>
          </p:txBody>
        </p:sp>
        <p:sp>
          <p:nvSpPr>
            <p:cNvPr id="3094" name="Text Box 22"/>
            <p:cNvSpPr txBox="1">
              <a:spLocks noChangeArrowheads="1"/>
            </p:cNvSpPr>
            <p:nvPr/>
          </p:nvSpPr>
          <p:spPr bwMode="auto">
            <a:xfrm>
              <a:off x="2663" y="504"/>
              <a:ext cx="203"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30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95" name="Text Box 23"/>
            <p:cNvSpPr txBox="1">
              <a:spLocks noChangeArrowheads="1"/>
            </p:cNvSpPr>
            <p:nvPr/>
          </p:nvSpPr>
          <p:spPr bwMode="auto">
            <a:xfrm>
              <a:off x="2663" y="1211"/>
              <a:ext cx="203"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25</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96" name="Text Box 24"/>
            <p:cNvSpPr txBox="1">
              <a:spLocks noChangeArrowheads="1"/>
            </p:cNvSpPr>
            <p:nvPr/>
          </p:nvSpPr>
          <p:spPr bwMode="auto">
            <a:xfrm>
              <a:off x="2663" y="1918"/>
              <a:ext cx="203" cy="1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20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97" name="Text Box 25"/>
            <p:cNvSpPr txBox="1">
              <a:spLocks noChangeArrowheads="1"/>
            </p:cNvSpPr>
            <p:nvPr/>
          </p:nvSpPr>
          <p:spPr bwMode="auto">
            <a:xfrm>
              <a:off x="2663" y="2626"/>
              <a:ext cx="203"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15</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98" name="Text Box 26"/>
            <p:cNvSpPr txBox="1">
              <a:spLocks noChangeArrowheads="1"/>
            </p:cNvSpPr>
            <p:nvPr/>
          </p:nvSpPr>
          <p:spPr bwMode="auto">
            <a:xfrm>
              <a:off x="2663" y="3333"/>
              <a:ext cx="203" cy="1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10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099" name="Text Box 27"/>
            <p:cNvSpPr txBox="1">
              <a:spLocks noChangeArrowheads="1"/>
            </p:cNvSpPr>
            <p:nvPr/>
          </p:nvSpPr>
          <p:spPr bwMode="auto">
            <a:xfrm>
              <a:off x="2754" y="4041"/>
              <a:ext cx="112"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5</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sp>
          <p:nvSpPr>
            <p:cNvPr id="3100" name="Text Box 28"/>
            <p:cNvSpPr txBox="1">
              <a:spLocks noChangeArrowheads="1"/>
            </p:cNvSpPr>
            <p:nvPr/>
          </p:nvSpPr>
          <p:spPr bwMode="auto">
            <a:xfrm>
              <a:off x="2754" y="4748"/>
              <a:ext cx="112" cy="1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p>
              <a:pPr marL="0" marR="0" lvl="0" indent="0" algn="l" defTabSz="914400" rtl="0" eaLnBrk="1" fontAlgn="base" latinLnBrk="0" hangingPunct="1">
                <a:lnSpc>
                  <a:spcPct val="72000"/>
                </a:lnSpc>
                <a:spcBef>
                  <a:spcPct val="0"/>
                </a:spcBef>
                <a:spcAft>
                  <a:spcPts val="1000"/>
                </a:spcAft>
                <a:buClrTx/>
                <a:buSzTx/>
                <a:buFontTx/>
                <a:buNone/>
                <a:tabLst/>
              </a:pPr>
              <a:r>
                <a:rPr kumimoji="0" lang="en-US" sz="900" b="0" i="0" u="none" strike="noStrike" cap="none" normalizeH="0" baseline="0" smtClean="0">
                  <a:ln>
                    <a:noFill/>
                  </a:ln>
                  <a:solidFill>
                    <a:srgbClr val="585858"/>
                  </a:solidFill>
                  <a:effectLst/>
                  <a:latin typeface="Calibri" pitchFamily="34" charset="0"/>
                  <a:ea typeface="Arial" pitchFamily="34" charset="0"/>
                  <a:cs typeface="Arial" pitchFamily="34" charset="0"/>
                </a:rPr>
                <a:t>0</a:t>
              </a:r>
              <a:endParaRPr kumimoji="0" lang="en-US" sz="1800" b="0" i="0" u="none" strike="noStrike" cap="none" normalizeH="0" baseline="0" smtClean="0">
                <a:ln>
                  <a:noFill/>
                </a:ln>
                <a:solidFill>
                  <a:schemeClr val="tx1"/>
                </a:solidFill>
                <a:effectLst/>
                <a:latin typeface="Arial" pitchFamily="34" charset="0"/>
                <a:cs typeface="Arial" pitchFamily="34" charset="0"/>
              </a:endParaRPr>
            </a:p>
          </p:txBody>
        </p:sp>
      </p:grpSp>
      <p:sp>
        <p:nvSpPr>
          <p:cNvPr id="32" name="Rectangle 31"/>
          <p:cNvSpPr/>
          <p:nvPr/>
        </p:nvSpPr>
        <p:spPr>
          <a:xfrm>
            <a:off x="1103086" y="5892579"/>
            <a:ext cx="1814285" cy="677108"/>
          </a:xfrm>
          <a:prstGeom prst="rect">
            <a:avLst/>
          </a:prstGeom>
        </p:spPr>
        <p:txBody>
          <a:bodyPr wrap="square">
            <a:spAutoFit/>
          </a:bodyPr>
          <a:lstStyle/>
          <a:p>
            <a:r>
              <a:rPr lang="en-US" u="sng" dirty="0" smtClean="0">
                <a:latin typeface="Times New Roman" panose="02020603050405020304" pitchFamily="18" charset="0"/>
                <a:cs typeface="Times New Roman" panose="02020603050405020304" pitchFamily="18" charset="0"/>
              </a:rPr>
              <a:t>I</a:t>
            </a:r>
            <a:r>
              <a:rPr lang="en-US" sz="2000" u="sng" dirty="0" smtClean="0">
                <a:latin typeface="Times New Roman" panose="02020603050405020304" pitchFamily="18" charset="0"/>
                <a:cs typeface="Times New Roman" panose="02020603050405020304" pitchFamily="18" charset="0"/>
              </a:rPr>
              <a:t>NFERENCE</a:t>
            </a:r>
            <a:r>
              <a:rPr lang="en-US" sz="2000" dirty="0" smtClean="0"/>
              <a:t/>
            </a:r>
            <a:br>
              <a:rPr lang="en-US" sz="2000" dirty="0" smtClean="0"/>
            </a:br>
            <a:endParaRPr lang="en-US" dirty="0"/>
          </a:p>
        </p:txBody>
      </p:sp>
      <p:sp>
        <p:nvSpPr>
          <p:cNvPr id="33" name="Rectangle 32"/>
          <p:cNvSpPr/>
          <p:nvPr/>
        </p:nvSpPr>
        <p:spPr>
          <a:xfrm>
            <a:off x="1030540" y="6291755"/>
            <a:ext cx="9564916" cy="400110"/>
          </a:xfrm>
          <a:prstGeom prst="rect">
            <a:avLst/>
          </a:prstGeom>
        </p:spPr>
        <p:txBody>
          <a:bodyPr wrap="square">
            <a:spAutoFit/>
          </a:bodyPr>
          <a:lstStyle/>
          <a:p>
            <a:pPr lvl="2" algn="ctr">
              <a:buNone/>
            </a:pPr>
            <a:r>
              <a:rPr lang="en-US"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MAJORITY 28% OF THE RESPONDENTS FACE PROBLEM LIKE OVERHEATING</a:t>
            </a:r>
            <a:r>
              <a:rPr lang="en-US" sz="2000" dirty="0" smtClean="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rPr>
              <a:t> </a:t>
            </a:r>
            <a:endParaRPr lang="en-IN" sz="2400" dirty="0">
              <a:ln w="18415" cmpd="sng">
                <a:solidFill>
                  <a:srgbClr val="FFFFFF"/>
                </a:solidFill>
                <a:prstDash val="solid"/>
              </a:ln>
              <a:solidFill>
                <a:srgbClr val="FFFFFF"/>
              </a:solidFill>
              <a:effectLst>
                <a:outerShdw blurRad="63500" dir="3600000" algn="tl" rotWithShape="0">
                  <a:srgbClr val="000000">
                    <a:alpha val="70000"/>
                  </a:srgbClr>
                </a:outerShdw>
              </a:effectLst>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124495882"/>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70253" y="580572"/>
            <a:ext cx="10353761" cy="1326321"/>
          </a:xfrm>
        </p:spPr>
        <p:txBody>
          <a:bodyPr>
            <a:normAutofit/>
          </a:bodyPr>
          <a:lstStyle/>
          <a:p>
            <a:r>
              <a:rPr lang="en-US" sz="3200" u="sng" dirty="0" smtClean="0">
                <a:latin typeface="Times New Roman" panose="02020603050405020304" pitchFamily="18" charset="0"/>
                <a:cs typeface="Times New Roman" panose="02020603050405020304" pitchFamily="18" charset="0"/>
              </a:rPr>
              <a:t>SUGGESTIONS</a:t>
            </a:r>
            <a:endParaRPr lang="en-IN" sz="3200"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28309" y="2124603"/>
            <a:ext cx="10353762" cy="3695136"/>
          </a:xfrm>
        </p:spPr>
        <p:txBody>
          <a:bodyPr>
            <a:noAutofit/>
          </a:bodyPr>
          <a:lstStyle/>
          <a:p>
            <a:pPr lvl="0" algn="just"/>
            <a:r>
              <a:rPr lang="en-US" sz="2400" dirty="0" smtClean="0"/>
              <a:t>There is a wide scope for further development of mobile phone.</a:t>
            </a:r>
          </a:p>
          <a:p>
            <a:pPr lvl="0" algn="just"/>
            <a:r>
              <a:rPr lang="en-US" sz="2400" dirty="0" smtClean="0"/>
              <a:t>They should get the feedback report from the customer in order to </a:t>
            </a:r>
            <a:r>
              <a:rPr lang="en-US" sz="2400" dirty="0" err="1" smtClean="0"/>
              <a:t>fulfil</a:t>
            </a:r>
            <a:r>
              <a:rPr lang="en-US" sz="2400" dirty="0" smtClean="0"/>
              <a:t> the customer needs and wants.</a:t>
            </a:r>
          </a:p>
          <a:p>
            <a:pPr lvl="0" algn="just"/>
            <a:r>
              <a:rPr lang="en-US" sz="2400" dirty="0" smtClean="0"/>
              <a:t>Overheating issue should be improved as well.</a:t>
            </a:r>
          </a:p>
          <a:p>
            <a:pPr lvl="0" algn="just"/>
            <a:r>
              <a:rPr lang="en-US" sz="2400" dirty="0" smtClean="0"/>
              <a:t>Most of the people suggest to introduce more features. Expect cost reduction.</a:t>
            </a:r>
          </a:p>
          <a:p>
            <a:pPr algn="just"/>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2976870816"/>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84768" y="636236"/>
            <a:ext cx="10353761" cy="1326321"/>
          </a:xfrm>
        </p:spPr>
        <p:txBody>
          <a:bodyPr>
            <a:normAutofit/>
          </a:bodyPr>
          <a:lstStyle/>
          <a:p>
            <a:r>
              <a:rPr lang="en-US" sz="3200" u="sng" dirty="0" smtClean="0">
                <a:latin typeface="Times New Roman" panose="02020603050405020304" pitchFamily="18" charset="0"/>
                <a:cs typeface="Times New Roman" panose="02020603050405020304" pitchFamily="18" charset="0"/>
              </a:rPr>
              <a:t>CONCLUSION</a:t>
            </a:r>
            <a:endParaRPr lang="en-IN" sz="3200" u="sng" dirty="0">
              <a:latin typeface="Times New Roman" panose="02020603050405020304" pitchFamily="18" charset="0"/>
              <a:cs typeface="Times New Roman" panose="02020603050405020304" pitchFamily="18" charset="0"/>
            </a:endParaRPr>
          </a:p>
        </p:txBody>
      </p:sp>
      <p:sp>
        <p:nvSpPr>
          <p:cNvPr id="3" name="Content Placeholder 2"/>
          <p:cNvSpPr>
            <a:spLocks noGrp="1"/>
          </p:cNvSpPr>
          <p:nvPr>
            <p:ph idx="1"/>
          </p:nvPr>
        </p:nvSpPr>
        <p:spPr>
          <a:xfrm>
            <a:off x="913794" y="2281878"/>
            <a:ext cx="10353762" cy="3695136"/>
          </a:xfrm>
        </p:spPr>
        <p:txBody>
          <a:bodyPr>
            <a:noAutofit/>
          </a:bodyPr>
          <a:lstStyle/>
          <a:p>
            <a:pPr algn="just">
              <a:buNone/>
            </a:pPr>
            <a:r>
              <a:rPr lang="en-US" sz="2400" dirty="0" smtClean="0"/>
              <a:t>   Most of them are using mobile phones to access the web, download apps, especially as Smartphone ownership grows. And because they would expect to get information quickly   via mobile. The technology of mobile phone has developed so much which brings the world to our  fingers. This study has given an overall analysis of the customer satisfaction towards using of   Smart phones.</a:t>
            </a:r>
          </a:p>
          <a:p>
            <a:pPr>
              <a:buNone/>
            </a:pPr>
            <a:endParaRPr lang="en-IN" sz="2400" dirty="0">
              <a:latin typeface="Times New Roman" panose="02020603050405020304" pitchFamily="18" charset="0"/>
              <a:cs typeface="Times New Roman" panose="02020603050405020304" pitchFamily="18" charset="0"/>
            </a:endParaRPr>
          </a:p>
        </p:txBody>
      </p:sp>
    </p:spTree>
    <p:extLst>
      <p:ext uri="{BB962C8B-B14F-4D97-AF65-F5344CB8AC3E}">
        <p14:creationId xmlns="" xmlns:p14="http://schemas.microsoft.com/office/powerpoint/2010/main" val="626871767"/>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bg>
      <p:bgPr>
        <a:blipFill rotWithShape="1">
          <a:blip r:embed="rId3"/>
          <a:tile tx="0" ty="0" sx="100000" sy="100000" flip="none" algn="tl"/>
        </a:blipFill>
        <a:effectLst/>
      </p:bgPr>
    </p:bg>
    <p:spTree>
      <p:nvGrpSpPr>
        <p:cNvPr id="1" name=""/>
        <p:cNvGrpSpPr/>
        <p:nvPr/>
      </p:nvGrpSpPr>
      <p:grpSpPr>
        <a:xfrm>
          <a:off x="0" y="0"/>
          <a:ext cx="0" cy="0"/>
          <a:chOff x="0" y="0"/>
          <a:chExt cx="0" cy="0"/>
        </a:xfrm>
      </p:grpSpPr>
      <p:sp>
        <p:nvSpPr>
          <p:cNvPr id="4" name="TextBox 3"/>
          <p:cNvSpPr txBox="1"/>
          <p:nvPr/>
        </p:nvSpPr>
        <p:spPr>
          <a:xfrm>
            <a:off x="3236692" y="2510975"/>
            <a:ext cx="5842305" cy="1200329"/>
          </a:xfrm>
          <a:prstGeom prst="rect">
            <a:avLst/>
          </a:prstGeom>
          <a:noFill/>
        </p:spPr>
        <p:txBody>
          <a:bodyPr wrap="none" rtlCol="0">
            <a:spAutoFit/>
            <a:scene3d>
              <a:camera prst="orthographicFront"/>
              <a:lightRig rig="balanced" dir="t">
                <a:rot lat="0" lon="0" rev="2100000"/>
              </a:lightRig>
            </a:scene3d>
            <a:sp3d extrusionH="57150" prstMaterial="metal">
              <a:bevelT w="38100" h="25400"/>
              <a:contourClr>
                <a:schemeClr val="bg2"/>
              </a:contourClr>
            </a:sp3d>
          </a:bodyPr>
          <a:lstStyle/>
          <a:p>
            <a:r>
              <a:rPr lang="en-IN" sz="7200" b="1" dirty="0" smtClean="0">
                <a:ln w="50800"/>
                <a:solidFill>
                  <a:schemeClr val="bg1">
                    <a:shade val="50000"/>
                  </a:schemeClr>
                </a:solidFill>
                <a:latin typeface="Times New Roman" pitchFamily="18" charset="0"/>
                <a:cs typeface="Times New Roman" pitchFamily="18" charset="0"/>
              </a:rPr>
              <a:t>THANK</a:t>
            </a:r>
            <a:r>
              <a:rPr lang="en-IN" sz="6600" b="1" dirty="0" smtClean="0">
                <a:ln w="50800"/>
                <a:solidFill>
                  <a:schemeClr val="bg1">
                    <a:shade val="50000"/>
                  </a:schemeClr>
                </a:solidFill>
                <a:latin typeface="Times New Roman" pitchFamily="18" charset="0"/>
                <a:cs typeface="Times New Roman" pitchFamily="18" charset="0"/>
              </a:rPr>
              <a:t>  YOU</a:t>
            </a:r>
            <a:endParaRPr lang="en-US" b="1" dirty="0">
              <a:ln w="50800"/>
              <a:solidFill>
                <a:schemeClr val="bg1">
                  <a:shade val="50000"/>
                </a:schemeClr>
              </a:solidFill>
              <a:latin typeface="Times New Roman" pitchFamily="18" charset="0"/>
              <a:cs typeface="Times New Roman" pitchFamily="18" charset="0"/>
            </a:endParaRPr>
          </a:p>
        </p:txBody>
      </p:sp>
    </p:spTree>
  </p:cSld>
  <p:clrMapOvr>
    <a:masterClrMapping/>
  </p:clrMapOvr>
  <p:transition spd="slow">
    <p:zoom/>
    <p:sndAc>
      <p:stSnd>
        <p:snd r:embed="rId2" name="bomb.wav" builtIn="1"/>
      </p:stSnd>
    </p:sndAc>
  </p:transition>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 xmlns:thm15="http://schemas.microsoft.com/office/thememl/2012/main" name="Damask" id="{F9A299A0-33D0-4E0F-9F3F-7163E3744208}" vid="{746EEEEA-FB6A-406B-B510-531588D54811}"/>
    </a:ext>
  </a:extLst>
</a:theme>
</file>

<file path=docProps/app.xml><?xml version="1.0" encoding="utf-8"?>
<Properties xmlns="http://schemas.openxmlformats.org/officeDocument/2006/extended-properties" xmlns:vt="http://schemas.openxmlformats.org/officeDocument/2006/docPropsVTypes">
  <Template>Technic</Template>
  <TotalTime>369</TotalTime>
  <Words>1410</Words>
  <Application>Microsoft Office PowerPoint</Application>
  <PresentationFormat>Custom</PresentationFormat>
  <Paragraphs>337</Paragraphs>
  <Slides>17</Slides>
  <Notes>0</Notes>
  <HiddenSlides>0</HiddenSlides>
  <MMClips>0</MMClips>
  <ScaleCrop>false</ScaleCrop>
  <HeadingPairs>
    <vt:vector size="4" baseType="variant">
      <vt:variant>
        <vt:lpstr>Theme</vt:lpstr>
      </vt:variant>
      <vt:variant>
        <vt:i4>1</vt:i4>
      </vt:variant>
      <vt:variant>
        <vt:lpstr>Slide Titles</vt:lpstr>
      </vt:variant>
      <vt:variant>
        <vt:i4>17</vt:i4>
      </vt:variant>
    </vt:vector>
  </HeadingPairs>
  <TitlesOfParts>
    <vt:vector size="18" baseType="lpstr">
      <vt:lpstr>Damask</vt:lpstr>
      <vt:lpstr>Slide 1</vt:lpstr>
      <vt:lpstr>abstract</vt:lpstr>
      <vt:lpstr>INTRODUCTION </vt:lpstr>
      <vt:lpstr>Objectives  of  study </vt:lpstr>
      <vt:lpstr>Research  design  and  methodology </vt:lpstr>
      <vt:lpstr>Limitation  of  the  study </vt:lpstr>
      <vt:lpstr>THE STUDY ON CUSTOMER SATISFICATION TOWARDS MOBILE USAGE IN VIRUDHUNAGAR </vt:lpstr>
      <vt:lpstr>List of  MOBILE brands are used in OUR project</vt:lpstr>
      <vt:lpstr>Analysis  AGE of the respondents</vt:lpstr>
      <vt:lpstr> </vt:lpstr>
      <vt:lpstr>Reasons for using this mobile</vt:lpstr>
      <vt:lpstr>Factors influenced to use mobile phone  </vt:lpstr>
      <vt:lpstr>Preference to use while using internet on your mobile phone</vt:lpstr>
      <vt:lpstr>Problems faced by the respondents using mobile</vt:lpstr>
      <vt:lpstr>SUGGESTIONS</vt:lpstr>
      <vt:lpstr>CONCLUSION</vt:lpstr>
      <vt:lpstr>Slide 17</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Microsoft account</dc:creator>
  <cp:lastModifiedBy>KODI VISHNU</cp:lastModifiedBy>
  <cp:revision>64</cp:revision>
  <dcterms:created xsi:type="dcterms:W3CDTF">2024-04-06T09:07:42Z</dcterms:created>
  <dcterms:modified xsi:type="dcterms:W3CDTF">2024-04-12T00:06:08Z</dcterms:modified>
</cp:coreProperties>
</file>